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35240" cy="6858000"/>
          </a:xfrm>
          <a:prstGeom prst="rect">
            <a:avLst/>
          </a:prstGeom>
          <a:solidFill>
            <a:srgbClr val="123B44"/>
          </a:solidFill>
          <a:ln w="12700">
            <a:solidFill>
              <a:srgbClr val="12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60920" y="0"/>
            <a:ext cx="164592" cy="6858000"/>
          </a:xfrm>
          <a:prstGeom prst="rect">
            <a:avLst/>
          </a:prstGeom>
          <a:solidFill>
            <a:srgbClr val="E06A57"/>
          </a:solidFill>
          <a:ln w="12700">
            <a:solidFill>
              <a:srgbClr val="E06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unlink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1051560" cy="10515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120640" y="640080"/>
            <a:ext cx="1143000" cy="1143000"/>
          </a:xfrm>
          <a:prstGeom prst="ellipse">
            <a:avLst/>
          </a:prstGeom>
          <a:noFill/>
          <a:ln w="15240">
            <a:solidFill>
              <a:srgbClr val="3D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52160" y="1234440"/>
            <a:ext cx="731520" cy="731520"/>
          </a:xfrm>
          <a:prstGeom prst="ellipse">
            <a:avLst/>
          </a:prstGeom>
          <a:noFill/>
          <a:ln w="15240">
            <a:solidFill>
              <a:srgbClr val="3D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34840" y="5212080"/>
            <a:ext cx="1417320" cy="1417320"/>
          </a:xfrm>
          <a:prstGeom prst="ellipse">
            <a:avLst/>
          </a:prstGeom>
          <a:noFill/>
          <a:ln w="15240">
            <a:solidFill>
              <a:srgbClr val="3D8C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17320"/>
            <a:ext cx="5715000" cy="32004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8C26A"/>
                </a:solidFill>
                <a:latin typeface="Aptos"/>
              </a:rPr>
              <a:t>PROJECT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18488"/>
            <a:ext cx="5715000" cy="73152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 Display"/>
              </a:rPr>
              <a:t>MunLink Zambales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03120"/>
            <a:ext cx="5715000" cy="64008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4EBDD"/>
                </a:solidFill>
                <a:latin typeface="Aptos"/>
              </a:rPr>
              <a:t>Project proposal for a digital municipal services platform covering documents, announcements, issue reporting, benefits, and local community transactions.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977639"/>
            <a:ext cx="5852160" cy="96012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8C26A"/>
                </a:solidFill>
                <a:latin typeface="Aptos Display"/>
              </a:rPr>
              <a:t>Public deployment scope: Zambales only</a:t>
            </a:r>
          </a:p>
          <a:p>
            <a:pPr algn="l">
              <a:spcAft>
                <a:spcPts val="0"/>
              </a:spcAft>
            </a:pPr>
            <a:r>
              <a:rPr sz="1260" b="0" i="0">
                <a:solidFill>
                  <a:srgbClr val="F4EBDD"/>
                </a:solidFill>
                <a:latin typeface="Aptos"/>
              </a:rPr>
              <a:t>Region 3 data remains available in the backend for future expansion, but current users only see Zambales and exclude Olongapo City.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413248"/>
            <a:ext cx="2788920" cy="384048"/>
          </a:xfrm>
          <a:prstGeom prst="roundRect">
            <a:avLst/>
          </a:prstGeom>
          <a:solidFill>
            <a:srgbClr val="E06A57"/>
          </a:solidFill>
          <a:ln w="12700">
            <a:solidFill>
              <a:srgbClr val="E06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5431536"/>
            <a:ext cx="2642615" cy="347472"/>
          </a:xfrm>
          <a:prstGeom prst="rect">
            <a:avLst/>
          </a:prstGeom>
          <a:noFill/>
        </p:spPr>
        <p:txBody>
          <a:bodyPr wrap="square" anchor="t" lIns="18288" rIns="18288" tIns="14630" bIns="10972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Prepared from repo docs | 07 Apr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73152"/>
          </a:xfrm>
          <a:prstGeom prst="rect">
            <a:avLst/>
          </a:prstGeom>
          <a:solidFill>
            <a:srgbClr val="123B44"/>
          </a:solidFill>
          <a:ln>
            <a:solidFill>
              <a:srgbClr val="12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620256"/>
            <a:ext cx="9875520" cy="164592"/>
          </a:xfrm>
          <a:prstGeom prst="rect">
            <a:avLst/>
          </a:prstGeom>
          <a:noFill/>
        </p:spPr>
        <p:txBody>
          <a:bodyPr wrap="square" anchor="t" lIns="18288" rIns="18288" tIns="14630" bIns="1097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Repo basis: README, AGENTS, PERMISSIONS_MATRIX, PROJECT_ASSESSMENT, PRODUCTION_READINESS_REPORT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601968"/>
            <a:ext cx="1051560" cy="182880"/>
          </a:xfrm>
          <a:prstGeom prst="rect">
            <a:avLst/>
          </a:prstGeom>
          <a:noFill/>
        </p:spPr>
        <p:txBody>
          <a:bodyPr wrap="square" anchor="t" lIns="9144" rIns="9144" tIns="7315" bIns="548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858000" cy="32004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06A57"/>
                </a:solidFill>
                <a:latin typeface="Apto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6858000" cy="73152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252B"/>
                </a:solidFill>
                <a:latin typeface="Aptos Display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858000" cy="64008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Proposal framing for operational deployment of the current MunLink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133856"/>
            <a:ext cx="3291840" cy="347472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FF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152144"/>
            <a:ext cx="3145536" cy="310896"/>
          </a:xfrm>
          <a:prstGeom prst="rect">
            <a:avLst/>
          </a:prstGeom>
          <a:noFill/>
        </p:spPr>
        <p:txBody>
          <a:bodyPr wrap="square" anchor="t" lIns="18288" rIns="18288" tIns="14630" bIns="10972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252B"/>
                </a:solidFill>
                <a:latin typeface="Aptos"/>
              </a:rPr>
              <a:t>Zambales public scope. Olongapo excluded.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54480"/>
            <a:ext cx="5715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45920"/>
            <a:ext cx="542239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252B"/>
                </a:solidFill>
                <a:latin typeface="Aptos Display"/>
              </a:rPr>
              <a:t>What this proposal is asking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984248"/>
            <a:ext cx="5422392" cy="400507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 i="0">
                <a:solidFill>
                  <a:srgbClr val="55616B"/>
                </a:solidFill>
                <a:latin typeface="Aptos"/>
              </a:rPr>
              <a:t>MunLink consolidates resident-facing municipal services into a single digital platform for Zambales.</a:t>
            </a:r>
          </a:p>
          <a:p>
            <a:pPr algn="l">
              <a:spcAft>
                <a:spcPts val="400"/>
              </a:spcAft>
            </a:pPr>
            <a:r>
              <a:rPr sz="1320" b="0" i="0">
                <a:solidFill>
                  <a:srgbClr val="55616B"/>
                </a:solidFill>
                <a:latin typeface="Aptos"/>
              </a:rPr>
              <a:t>The proposal is to operationalize and deploy the existing system, not to start from zero.</a:t>
            </a:r>
          </a:p>
          <a:p>
            <a:pPr algn="l">
              <a:spcAft>
                <a:spcPts val="400"/>
              </a:spcAft>
            </a:pPr>
            <a:r>
              <a:rPr sz="1320" b="0" i="0">
                <a:solidFill>
                  <a:srgbClr val="55616B"/>
                </a:solidFill>
                <a:latin typeface="Aptos"/>
              </a:rPr>
              <a:t>Current modules already cover documents, announcements, benefits, issue reporting, marketplace activity, notifications, and admin governance.</a:t>
            </a:r>
          </a:p>
          <a:p>
            <a:pPr algn="l">
              <a:spcAft>
                <a:spcPts val="400"/>
              </a:spcAft>
            </a:pPr>
            <a:r>
              <a:rPr sz="1320" b="0" i="0">
                <a:solidFill>
                  <a:srgbClr val="55616B"/>
                </a:solidFill>
                <a:latin typeface="Aptos"/>
              </a:rPr>
              <a:t>The main remaining work is launch hardening: production security, monitoring, backups, deployment readiness, and pilot rollout management.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4848" y="1737360"/>
            <a:ext cx="2011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865376"/>
            <a:ext cx="1792224" cy="512064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23B44"/>
                </a:solidFill>
                <a:latin typeface="Aptos Display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4576" y="2395728"/>
            <a:ext cx="1792224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5616B"/>
                </a:solidFill>
                <a:latin typeface="Aptos"/>
              </a:rPr>
              <a:t>apps in the monorepo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4272" y="1737360"/>
            <a:ext cx="2011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865376"/>
            <a:ext cx="1792224" cy="512064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23B44"/>
                </a:solidFill>
                <a:latin typeface="Aptos Display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395728"/>
            <a:ext cx="1792224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5616B"/>
                </a:solidFill>
                <a:latin typeface="Aptos"/>
              </a:rPr>
              <a:t>role types supported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84848" y="3337560"/>
            <a:ext cx="2011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3465576"/>
            <a:ext cx="1792224" cy="512064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23B44"/>
                </a:solidFill>
                <a:latin typeface="Aptos Display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4576" y="3995928"/>
            <a:ext cx="1792224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5616B"/>
                </a:solidFill>
                <a:latin typeface="Aptos"/>
              </a:rPr>
              <a:t>Zambales municipalities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4272" y="3337560"/>
            <a:ext cx="2011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3465576"/>
            <a:ext cx="1792224" cy="512064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23B44"/>
                </a:solidFill>
                <a:latin typeface="Aptos Display"/>
              </a:rPr>
              <a:t>8 wk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995928"/>
            <a:ext cx="1792224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5616B"/>
                </a:solidFill>
                <a:latin typeface="Aptos"/>
              </a:rPr>
              <a:t>proposed launch 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93408" y="4965192"/>
            <a:ext cx="4526280" cy="1115568"/>
          </a:xfrm>
          <a:prstGeom prst="roundRect">
            <a:avLst/>
          </a:prstGeom>
          <a:solidFill>
            <a:srgbClr val="E5F2E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5056631"/>
            <a:ext cx="423367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23B44"/>
                </a:solidFill>
                <a:latin typeface="Aptos Display"/>
              </a:rPr>
              <a:t>Key 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5394959"/>
            <a:ext cx="4233672" cy="59436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60" b="0" i="0">
                <a:solidFill>
                  <a:srgbClr val="1F252B"/>
                </a:solidFill>
                <a:latin typeface="Aptos"/>
              </a:rPr>
              <a:t>Approve a staged rollout that pairs deployment with a short hardening and validation phase.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73152"/>
          </a:xfrm>
          <a:prstGeom prst="rect">
            <a:avLst/>
          </a:prstGeom>
          <a:solidFill>
            <a:srgbClr val="123B44"/>
          </a:solidFill>
          <a:ln>
            <a:solidFill>
              <a:srgbClr val="12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620256"/>
            <a:ext cx="9875520" cy="164592"/>
          </a:xfrm>
          <a:prstGeom prst="rect">
            <a:avLst/>
          </a:prstGeom>
          <a:noFill/>
        </p:spPr>
        <p:txBody>
          <a:bodyPr wrap="square" anchor="t" lIns="18288" rIns="18288" tIns="14630" bIns="1097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Repo basis: README, AGENTS, PERMISSIONS_MATRIX, PROJECT_ASSESSMENT, PRODUCTION_READINESS_REPORT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601968"/>
            <a:ext cx="1051560" cy="182880"/>
          </a:xfrm>
          <a:prstGeom prst="rect">
            <a:avLst/>
          </a:prstGeom>
          <a:noFill/>
        </p:spPr>
        <p:txBody>
          <a:bodyPr wrap="square" anchor="t" lIns="9144" rIns="9144" tIns="7315" bIns="548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858000" cy="32004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06A57"/>
                </a:solidFill>
                <a:latin typeface="Aptos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6858000" cy="73152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252B"/>
                </a:solidFill>
                <a:latin typeface="Aptos Display"/>
              </a:rPr>
              <a:t>Proposed Scope and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858000" cy="64008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Core solution scope already reflected in the repository and user 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078992"/>
            <a:ext cx="10881360" cy="457200"/>
          </a:xfrm>
          <a:prstGeom prst="roundRect">
            <a:avLst/>
          </a:prstGeom>
          <a:solidFill>
            <a:srgbClr val="123B44"/>
          </a:solidFill>
          <a:ln w="12700">
            <a:solidFill>
              <a:srgbClr val="12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33856"/>
            <a:ext cx="10515600" cy="256032"/>
          </a:xfrm>
          <a:prstGeom prst="rect">
            <a:avLst/>
          </a:prstGeom>
          <a:noFill/>
        </p:spPr>
        <p:txBody>
          <a:bodyPr wrap="square" anchor="t" lIns="18288" rIns="18288" tIns="14630" bIns="1097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Aptos"/>
              </a:rPr>
              <a:t>Current public deployment scope: Zambales province only. Region 3 location data remains internal for future expansion compatibility.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257800" cy="324612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496519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252B"/>
                </a:solidFill>
                <a:latin typeface="Aptos Display"/>
              </a:rPr>
              <a:t>Resident-facing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12848"/>
            <a:ext cx="4965192" cy="272491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70" b="0" i="0">
                <a:solidFill>
                  <a:srgbClr val="55616B"/>
                </a:solidFill>
                <a:latin typeface="Aptos"/>
              </a:rPr>
              <a:t>Document requests with QR verification, claim tickets, and PDF delivery</a:t>
            </a:r>
          </a:p>
          <a:p>
            <a:pPr algn="l">
              <a:spcAft>
                <a:spcPts val="400"/>
              </a:spcAft>
            </a:pPr>
            <a:r>
              <a:rPr sz="1270" b="0" i="0">
                <a:solidFill>
                  <a:srgbClr val="55616B"/>
                </a:solidFill>
                <a:latin typeface="Aptos"/>
              </a:rPr>
              <a:t>Province, municipality, and barangay announcements with image support</a:t>
            </a:r>
          </a:p>
          <a:p>
            <a:pPr algn="l">
              <a:spcAft>
                <a:spcPts val="400"/>
              </a:spcAft>
            </a:pPr>
            <a:r>
              <a:rPr sz="1270" b="0" i="0">
                <a:solidFill>
                  <a:srgbClr val="55616B"/>
                </a:solidFill>
                <a:latin typeface="Aptos"/>
              </a:rPr>
              <a:t>Problem reporting with status tracking and admin triage</a:t>
            </a:r>
          </a:p>
          <a:p>
            <a:pPr algn="l">
              <a:spcAft>
                <a:spcPts val="400"/>
              </a:spcAft>
            </a:pPr>
            <a:r>
              <a:rPr sz="1270" b="0" i="0">
                <a:solidFill>
                  <a:srgbClr val="55616B"/>
                </a:solidFill>
                <a:latin typeface="Aptos"/>
              </a:rPr>
              <a:t>Benefit program applications with eligibility and fee rules</a:t>
            </a:r>
          </a:p>
          <a:p>
            <a:pPr algn="l">
              <a:spcAft>
                <a:spcPts val="400"/>
              </a:spcAft>
            </a:pPr>
            <a:r>
              <a:rPr sz="1270" b="0" i="0">
                <a:solidFill>
                  <a:srgbClr val="55616B"/>
                </a:solidFill>
                <a:latin typeface="Aptos"/>
              </a:rPr>
              <a:t>Marketplace activity for buy, sell, donate, and lend transactions</a:t>
            </a:r>
          </a:p>
          <a:p>
            <a:pPr algn="l">
              <a:spcAft>
                <a:spcPts val="400"/>
              </a:spcAft>
            </a:pPr>
            <a:r>
              <a:rPr sz="1270" b="0" i="0">
                <a:solidFill>
                  <a:srgbClr val="55616B"/>
                </a:solidFill>
                <a:latin typeface="Aptos"/>
              </a:rPr>
              <a:t>Profile, verification status, and configurable notifications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783080"/>
            <a:ext cx="5257800" cy="3246120"/>
          </a:xfrm>
          <a:prstGeom prst="roundRect">
            <a:avLst/>
          </a:prstGeom>
          <a:solidFill>
            <a:srgbClr val="EAF5F6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874519"/>
            <a:ext cx="496519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252B"/>
                </a:solidFill>
                <a:latin typeface="Aptos Display"/>
              </a:rPr>
              <a:t>Administrative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212848"/>
            <a:ext cx="4965192" cy="272491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Resident verification with permission-based ID viewing and audit logging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Document processing, payment verification, and QR validation at claim time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Scoped announcement management across provincial, municipal, and barangay roles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Benefit program creation, application review, and approvals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Marketplace moderation, issue management, and audit oversight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SuperAdmin account management with dedicated 2FA portal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257800"/>
            <a:ext cx="8138160" cy="932688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5349240"/>
            <a:ext cx="784555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252B"/>
                </a:solidFill>
                <a:latin typeface="Aptos Display"/>
              </a:rPr>
              <a:t>Why this scope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687568"/>
            <a:ext cx="7845552" cy="41148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52B"/>
                </a:solidFill>
                <a:latin typeface="Aptos"/>
              </a:rPr>
              <a:t>It replaces fragmented municipal transactions with one traceable platform while keeping strict geographic boundaries and clear responsibility per user role.</a:t>
            </a:r>
          </a:p>
        </p:txBody>
      </p:sp>
      <p:pic>
        <p:nvPicPr>
          <p:cNvPr id="16" name="Picture 15" descr="zamb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864608"/>
            <a:ext cx="1234440" cy="12344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601968"/>
            <a:ext cx="12191695" cy="73152"/>
          </a:xfrm>
          <a:prstGeom prst="rect">
            <a:avLst/>
          </a:prstGeom>
          <a:solidFill>
            <a:srgbClr val="123B44"/>
          </a:solidFill>
          <a:ln>
            <a:solidFill>
              <a:srgbClr val="12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620256"/>
            <a:ext cx="9875520" cy="164592"/>
          </a:xfrm>
          <a:prstGeom prst="rect">
            <a:avLst/>
          </a:prstGeom>
          <a:noFill/>
        </p:spPr>
        <p:txBody>
          <a:bodyPr wrap="square" anchor="t" lIns="18288" rIns="18288" tIns="14630" bIns="1097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Repo basis: README, AGENTS, PERMISSIONS_MATRIX, PROJECT_ASSESSMENT, PRODUCTION_READINESS_REPORT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601968"/>
            <a:ext cx="1051560" cy="182880"/>
          </a:xfrm>
          <a:prstGeom prst="rect">
            <a:avLst/>
          </a:prstGeom>
          <a:noFill/>
        </p:spPr>
        <p:txBody>
          <a:bodyPr wrap="square" anchor="t" lIns="9144" rIns="9144" tIns="7315" bIns="548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858000" cy="32004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06A57"/>
                </a:solidFill>
                <a:latin typeface="Aptos"/>
              </a:rP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6858000" cy="73152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252B"/>
                </a:solidFill>
                <a:latin typeface="Aptos Display"/>
              </a:rPr>
              <a:t>Users and Governance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858000" cy="64008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Role separation is one of the project's strongest existing design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325880"/>
            <a:ext cx="6675120" cy="1051560"/>
          </a:xfrm>
          <a:prstGeom prst="roundRect">
            <a:avLst/>
          </a:prstGeom>
          <a:solidFill>
            <a:srgbClr val="123B44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9504" y="1417320"/>
            <a:ext cx="638251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ptos Display"/>
              </a:rPr>
              <a:t>SuperAdmin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9504" y="1755648"/>
            <a:ext cx="6382512" cy="53035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4EBDD"/>
                </a:solidFill>
                <a:latin typeface="Aptos"/>
              </a:rPr>
              <a:t>Platform-wide oversight, admin account creation, dedicated 2FA login, and audit log visibility.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26974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834640"/>
            <a:ext cx="240487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23B44"/>
                </a:solidFill>
                <a:latin typeface="Aptos Display"/>
              </a:rPr>
              <a:t>Provincial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172968"/>
            <a:ext cx="2404872" cy="139903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Province-wide communication for Zambales.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Can create and manage PROVINCE-scoped announcements.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21024" y="2743200"/>
            <a:ext cx="26974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2834640"/>
            <a:ext cx="240487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23B44"/>
                </a:solidFill>
                <a:latin typeface="Aptos Display"/>
              </a:rPr>
              <a:t>Municipal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3172968"/>
            <a:ext cx="2404872" cy="139903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Municipality-level services and resident management.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Handles documents, issues, programs, announcements, and moderation within assigned scope.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743200"/>
            <a:ext cx="26974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9984" y="2834640"/>
            <a:ext cx="240487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23B44"/>
                </a:solidFill>
                <a:latin typeface="Aptos Display"/>
              </a:rPr>
              <a:t>Barangay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9984" y="3172968"/>
            <a:ext cx="2404872" cy="139903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Barangay-level communication and scoped visibility.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Handles BARANGAY-scoped announcements within assigned barangay.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46336" y="2743200"/>
            <a:ext cx="1965960" cy="1920240"/>
          </a:xfrm>
          <a:prstGeom prst="roundRect">
            <a:avLst/>
          </a:prstGeom>
          <a:solidFill>
            <a:srgbClr val="F8E2DC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834640"/>
            <a:ext cx="1673351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252B"/>
                </a:solidFill>
                <a:latin typeface="Aptos Display"/>
              </a:rPr>
              <a:t>Resident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172968"/>
            <a:ext cx="1673351" cy="139903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52B"/>
                </a:solidFill>
                <a:latin typeface="Aptos"/>
              </a:rPr>
              <a:t>Accesses the public web app for services, requests, reports, and notifications.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074920"/>
            <a:ext cx="10844784" cy="749808"/>
          </a:xfrm>
          <a:prstGeom prst="roundRect">
            <a:avLst/>
          </a:prstGeom>
          <a:solidFill>
            <a:srgbClr val="E5F2EF"/>
          </a:solidFill>
          <a:ln w="12700">
            <a:solidFill>
              <a:srgbClr val="E5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248656"/>
            <a:ext cx="10424160" cy="310896"/>
          </a:xfrm>
          <a:prstGeom prst="rect">
            <a:avLst/>
          </a:prstGeom>
          <a:noFill/>
        </p:spPr>
        <p:txBody>
          <a:bodyPr wrap="square" anchor="t" lIns="18288" rIns="18288" tIns="14630" bIns="10972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123B44"/>
                </a:solidFill>
                <a:latin typeface="Aptos"/>
              </a:rPr>
              <a:t>Admin scoping depends on assigned admin_municipality_id and admin_barangay_id fields. Resident location fields must not be used for admin authorization.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73152"/>
          </a:xfrm>
          <a:prstGeom prst="rect">
            <a:avLst/>
          </a:prstGeom>
          <a:solidFill>
            <a:srgbClr val="123B44"/>
          </a:solidFill>
          <a:ln>
            <a:solidFill>
              <a:srgbClr val="12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620256"/>
            <a:ext cx="9875520" cy="164592"/>
          </a:xfrm>
          <a:prstGeom prst="rect">
            <a:avLst/>
          </a:prstGeom>
          <a:noFill/>
        </p:spPr>
        <p:txBody>
          <a:bodyPr wrap="square" anchor="t" lIns="18288" rIns="18288" tIns="14630" bIns="1097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Repo basis: README, AGENTS, PERMISSIONS_MATRIX, PROJECT_ASSESSMENT, PRODUCTION_READINESS_REPORT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601968"/>
            <a:ext cx="1051560" cy="182880"/>
          </a:xfrm>
          <a:prstGeom prst="rect">
            <a:avLst/>
          </a:prstGeom>
          <a:noFill/>
        </p:spPr>
        <p:txBody>
          <a:bodyPr wrap="square" anchor="t" lIns="9144" rIns="9144" tIns="7315" bIns="548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858000" cy="32004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06A57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6858000" cy="73152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252B"/>
                </a:solidFill>
                <a:latin typeface="Aptos Display"/>
              </a:rP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858000" cy="64008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Three application surfaces connected to one API and shared data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078992"/>
            <a:ext cx="3977639" cy="347472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FF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097280"/>
            <a:ext cx="3831335" cy="310896"/>
          </a:xfrm>
          <a:prstGeom prst="rect">
            <a:avLst/>
          </a:prstGeom>
          <a:noFill/>
        </p:spPr>
        <p:txBody>
          <a:bodyPr wrap="square" anchor="t" lIns="18288" rIns="18288" tIns="14630" bIns="10972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252B"/>
                </a:solidFill>
                <a:latin typeface="Aptos"/>
              </a:rPr>
              <a:t>Monorepo: Flask API + React Web + React Admin + shared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74519"/>
            <a:ext cx="1554480" cy="77724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3035808"/>
            <a:ext cx="1554480" cy="77724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97480" y="1627632"/>
            <a:ext cx="2331720" cy="1170432"/>
          </a:xfrm>
          <a:prstGeom prst="roundRect">
            <a:avLst/>
          </a:prstGeom>
          <a:solidFill>
            <a:srgbClr val="EAF5F6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43784" y="1719072"/>
            <a:ext cx="203911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23B44"/>
                </a:solidFill>
                <a:latin typeface="Aptos Display"/>
              </a:rPr>
              <a:t>Resident Web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3784" y="2057400"/>
            <a:ext cx="2039112" cy="649224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52B"/>
                </a:solidFill>
                <a:latin typeface="Aptos"/>
              </a:rPr>
              <a:t>Public and resident-facing React app.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2788920"/>
            <a:ext cx="2331720" cy="1170432"/>
          </a:xfrm>
          <a:prstGeom prst="roundRect">
            <a:avLst/>
          </a:prstGeom>
          <a:solidFill>
            <a:srgbClr val="EAF5F6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3784" y="2880360"/>
            <a:ext cx="203911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23B44"/>
                </a:solidFill>
                <a:latin typeface="Aptos Display"/>
              </a:rPr>
              <a:t>Admin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3784" y="3218687"/>
            <a:ext cx="2039112" cy="649224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52B"/>
                </a:solidFill>
                <a:latin typeface="Aptos"/>
              </a:rPr>
              <a:t>Municipal, barangay, provincial, and superadmin workflows.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2212848"/>
            <a:ext cx="2377440" cy="1207008"/>
          </a:xfrm>
          <a:prstGeom prst="roundRect">
            <a:avLst/>
          </a:prstGeom>
          <a:solidFill>
            <a:srgbClr val="123B44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78424" y="2304288"/>
            <a:ext cx="208483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Flask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78424" y="2642615"/>
            <a:ext cx="2084832" cy="68580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180" b="0" i="0">
                <a:solidFill>
                  <a:srgbClr val="F4EBDD"/>
                </a:solidFill>
                <a:latin typeface="Aptos"/>
              </a:rPr>
              <a:t>Authentication, business logic, uploads, QR verification, notifications, and audit handling.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444752"/>
            <a:ext cx="2743200" cy="896112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3064" y="1536192"/>
            <a:ext cx="245059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23B44"/>
                </a:solidFill>
                <a:latin typeface="Aptos Display"/>
              </a:rPr>
              <a:t>Supabase 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1874519"/>
            <a:ext cx="2450592" cy="374904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160" b="0" i="0">
                <a:solidFill>
                  <a:srgbClr val="1F252B"/>
                </a:solidFill>
                <a:latin typeface="Aptos"/>
              </a:rPr>
              <a:t>Primary application database.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2487168"/>
            <a:ext cx="2743200" cy="896112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13064" y="2578608"/>
            <a:ext cx="245059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23B44"/>
                </a:solidFill>
                <a:latin typeface="Aptos Display"/>
              </a:rPr>
              <a:t>Storage and Uploads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3064" y="2916936"/>
            <a:ext cx="2450592" cy="374904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160" b="0" i="0">
                <a:solidFill>
                  <a:srgbClr val="1F252B"/>
                </a:solidFill>
                <a:latin typeface="Aptos"/>
              </a:rPr>
              <a:t>Documents, payment proofs, images.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3529584"/>
            <a:ext cx="2743200" cy="896112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13064" y="3621024"/>
            <a:ext cx="245059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23B44"/>
                </a:solidFill>
                <a:latin typeface="Aptos Display"/>
              </a:rPr>
              <a:t>Email and SMS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13064" y="3959352"/>
            <a:ext cx="2450592" cy="374904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160" b="0" i="0">
                <a:solidFill>
                  <a:srgbClr val="1F252B"/>
                </a:solidFill>
                <a:latin typeface="Aptos"/>
              </a:rPr>
              <a:t>SendGrid/SMTP and PhilSMS integration.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4572000"/>
            <a:ext cx="2743200" cy="896112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13064" y="4663440"/>
            <a:ext cx="245059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23B44"/>
                </a:solidFill>
                <a:latin typeface="Aptos Display"/>
              </a:rPr>
              <a:t>Payments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13064" y="5001768"/>
            <a:ext cx="2450592" cy="374904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160" b="0" i="0">
                <a:solidFill>
                  <a:srgbClr val="1F252B"/>
                </a:solidFill>
                <a:latin typeface="Aptos"/>
              </a:rPr>
              <a:t>Stripe and manual QR / office verification.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2066543"/>
            <a:ext cx="1115568" cy="237744"/>
          </a:xfrm>
          <a:prstGeom prst="rect">
            <a:avLst/>
          </a:prstGeom>
          <a:noFill/>
        </p:spPr>
        <p:txBody>
          <a:bodyPr wrap="square" anchor="t" lIns="18288" rIns="18288" tIns="14630" bIns="10972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 i="0">
                <a:solidFill>
                  <a:srgbClr val="1F252B"/>
                </a:solidFill>
                <a:latin typeface="Aptos"/>
              </a:rPr>
              <a:t>Residents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5" y="3218688"/>
            <a:ext cx="1188720" cy="237744"/>
          </a:xfrm>
          <a:prstGeom prst="rect">
            <a:avLst/>
          </a:prstGeom>
          <a:noFill/>
        </p:spPr>
        <p:txBody>
          <a:bodyPr wrap="square" anchor="t" lIns="18288" rIns="18288" tIns="14630" bIns="10972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 i="0">
                <a:solidFill>
                  <a:srgbClr val="1F252B"/>
                </a:solidFill>
                <a:latin typeface="Aptos"/>
              </a:rPr>
              <a:t>Staff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423160" y="2267712"/>
            <a:ext cx="274320" cy="0"/>
          </a:xfrm>
          <a:prstGeom prst="line">
            <a:avLst/>
          </a:prstGeom>
          <a:ln w="25400">
            <a:solidFill>
              <a:srgbClr val="3D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423160" y="3419856"/>
            <a:ext cx="274320" cy="0"/>
          </a:xfrm>
          <a:prstGeom prst="line">
            <a:avLst/>
          </a:prstGeom>
          <a:ln w="25400">
            <a:solidFill>
              <a:srgbClr val="3D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29200" y="2212848"/>
            <a:ext cx="502920" cy="393192"/>
          </a:xfrm>
          <a:prstGeom prst="line">
            <a:avLst/>
          </a:prstGeom>
          <a:ln w="25400">
            <a:solidFill>
              <a:srgbClr val="3D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029200" y="3008376"/>
            <a:ext cx="502920" cy="365760"/>
          </a:xfrm>
          <a:prstGeom prst="line">
            <a:avLst/>
          </a:prstGeom>
          <a:ln w="25400">
            <a:solidFill>
              <a:srgbClr val="3D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909560" y="1874519"/>
            <a:ext cx="457200" cy="941833"/>
          </a:xfrm>
          <a:prstGeom prst="line">
            <a:avLst/>
          </a:prstGeom>
          <a:ln w="25400">
            <a:solidFill>
              <a:srgbClr val="3D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909560" y="2816352"/>
            <a:ext cx="457200" cy="100584"/>
          </a:xfrm>
          <a:prstGeom prst="line">
            <a:avLst/>
          </a:prstGeom>
          <a:ln w="25400">
            <a:solidFill>
              <a:srgbClr val="3D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909560" y="2816352"/>
            <a:ext cx="457200" cy="1143000"/>
          </a:xfrm>
          <a:prstGeom prst="line">
            <a:avLst/>
          </a:prstGeom>
          <a:ln w="25400">
            <a:solidFill>
              <a:srgbClr val="3D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909560" y="2816352"/>
            <a:ext cx="457200" cy="2185416"/>
          </a:xfrm>
          <a:prstGeom prst="line">
            <a:avLst/>
          </a:prstGeom>
          <a:ln w="25400">
            <a:solidFill>
              <a:srgbClr val="3D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76656" y="5138928"/>
            <a:ext cx="7242048" cy="786384"/>
          </a:xfrm>
          <a:prstGeom prst="roundRect">
            <a:avLst/>
          </a:prstGeom>
          <a:solidFill>
            <a:srgbClr val="E5F2E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230368"/>
            <a:ext cx="6949440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23B44"/>
                </a:solidFill>
                <a:latin typeface="Aptos Display"/>
              </a:rPr>
              <a:t>Deployment pattern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568696"/>
            <a:ext cx="6949440" cy="265176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 i="0">
                <a:solidFill>
                  <a:srgbClr val="1F252B"/>
                </a:solidFill>
                <a:latin typeface="Aptos"/>
              </a:rPr>
              <a:t>Recommended Railway setup uses three services: API, web, and admin. Docker is also supported for containerized deployment.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01968"/>
            <a:ext cx="12191695" cy="73152"/>
          </a:xfrm>
          <a:prstGeom prst="rect">
            <a:avLst/>
          </a:prstGeom>
          <a:solidFill>
            <a:srgbClr val="123B44"/>
          </a:solidFill>
          <a:ln>
            <a:solidFill>
              <a:srgbClr val="12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620256"/>
            <a:ext cx="9875520" cy="164592"/>
          </a:xfrm>
          <a:prstGeom prst="rect">
            <a:avLst/>
          </a:prstGeom>
          <a:noFill/>
        </p:spPr>
        <p:txBody>
          <a:bodyPr wrap="square" anchor="t" lIns="18288" rIns="18288" tIns="14630" bIns="1097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Repo basis: README, AGENTS, PERMISSIONS_MATRIX, PROJECT_ASSESSMENT, PRODUCTION_READINESS_REPORT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601968"/>
            <a:ext cx="1051560" cy="182880"/>
          </a:xfrm>
          <a:prstGeom prst="rect">
            <a:avLst/>
          </a:prstGeom>
          <a:noFill/>
        </p:spPr>
        <p:txBody>
          <a:bodyPr wrap="square" anchor="t" lIns="9144" rIns="9144" tIns="7315" bIns="548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858000" cy="32004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06A57"/>
                </a:solidFill>
                <a:latin typeface="Aptos"/>
              </a:rPr>
              <a:t>RISK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6858000" cy="73152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252B"/>
                </a:solidFill>
                <a:latin typeface="Aptos Display"/>
              </a:rPr>
              <a:t>Security, Privacy, and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858000" cy="64008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Proposal strength comes from controls already embedded in the codebase.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08760"/>
            <a:ext cx="226771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23B44"/>
                </a:solidFill>
                <a:latin typeface="Aptos Display"/>
              </a:rPr>
              <a:t>Access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47088"/>
            <a:ext cx="2267712" cy="130759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52B"/>
                </a:solidFill>
                <a:latin typeface="Aptos"/>
              </a:rPr>
              <a:t>JWT auth with refresh handling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52B"/>
                </a:solidFill>
                <a:latin typeface="Aptos"/>
              </a:rPr>
              <a:t>Role-based permissions and scope guards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52B"/>
                </a:solidFill>
                <a:latin typeface="Aptos"/>
              </a:rPr>
              <a:t>Protected fetches gated by auth bootstrap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4173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508760"/>
            <a:ext cx="226771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23B44"/>
                </a:solidFill>
                <a:latin typeface="Aptos Display"/>
              </a:rPr>
              <a:t>Sensitive Data Privacy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2736" y="1847088"/>
            <a:ext cx="2267712" cy="130759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52B"/>
                </a:solidFill>
                <a:latin typeface="Aptos"/>
              </a:rPr>
              <a:t>Permission-based ID viewing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52B"/>
                </a:solidFill>
                <a:latin typeface="Aptos"/>
              </a:rPr>
              <a:t>Watermarked display for resident IDs and selfies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52B"/>
                </a:solidFill>
                <a:latin typeface="Aptos"/>
              </a:rPr>
              <a:t>Audit logging for sensitive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417320"/>
            <a:ext cx="2560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226771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23B44"/>
                </a:solidFill>
                <a:latin typeface="Aptos Display"/>
              </a:rPr>
              <a:t>Operational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47088"/>
            <a:ext cx="2267712" cy="130759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52B"/>
                </a:solidFill>
                <a:latin typeface="Aptos"/>
              </a:rPr>
              <a:t>SuperAdmin email 2FA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52B"/>
                </a:solidFill>
                <a:latin typeface="Aptos"/>
              </a:rPr>
              <a:t>QR verification for generated documents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52B"/>
                </a:solidFill>
                <a:latin typeface="Aptos"/>
              </a:rPr>
              <a:t>Scoped announcement visibility and sharing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417320"/>
            <a:ext cx="222199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98864" y="1508760"/>
            <a:ext cx="1929384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23B44"/>
                </a:solidFill>
                <a:latin typeface="Aptos Display"/>
              </a:rPr>
              <a:t>Compliance Posture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4" y="1847088"/>
            <a:ext cx="1929384" cy="130759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52B"/>
                </a:solidFill>
                <a:latin typeface="Aptos"/>
              </a:rPr>
              <a:t>RA 10173-oriented privacy controls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52B"/>
                </a:solidFill>
                <a:latin typeface="Aptos"/>
              </a:rPr>
              <a:t>Retention and audit trail support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52B"/>
                </a:solidFill>
                <a:latin typeface="Aptos"/>
              </a:rPr>
              <a:t>Traceable admin 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03320"/>
            <a:ext cx="5413248" cy="1417320"/>
          </a:xfrm>
          <a:prstGeom prst="roundRect">
            <a:avLst/>
          </a:prstGeom>
          <a:solidFill>
            <a:srgbClr val="123B44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794759"/>
            <a:ext cx="5120640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Non-negotiable scope 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133087"/>
            <a:ext cx="5120640" cy="89611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4EBDD"/>
                </a:solidFill>
                <a:latin typeface="Aptos"/>
              </a:rPr>
              <a:t>The public platform must stay Zambales-only. Province ID 6 is exposed; Olongapo City remains excluded from API and UI scope.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3703320"/>
            <a:ext cx="4956048" cy="141732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794759"/>
            <a:ext cx="4663440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252B"/>
                </a:solidFill>
                <a:latin typeface="Aptos Display"/>
              </a:rPr>
              <a:t>Auditability requirement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133087"/>
            <a:ext cx="4663440" cy="89611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52B"/>
                </a:solidFill>
                <a:latin typeface="Aptos"/>
              </a:rPr>
              <a:t>Sensitive admin actions, especially resident verification and private document access, should remain fully auditable through the existing helpers and log tables.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440680"/>
            <a:ext cx="10625328" cy="731520"/>
          </a:xfrm>
          <a:prstGeom prst="roundRect">
            <a:avLst/>
          </a:prstGeom>
          <a:solidFill>
            <a:srgbClr val="E5F2E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532120"/>
            <a:ext cx="10332719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23B44"/>
                </a:solidFill>
                <a:latin typeface="Aptos Display"/>
              </a:rPr>
              <a:t>Proposal implication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870448"/>
            <a:ext cx="10332719" cy="21031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180" b="0" i="0">
                <a:solidFill>
                  <a:srgbClr val="1F252B"/>
                </a:solidFill>
                <a:latin typeface="Aptos"/>
              </a:rPr>
              <a:t>MunLink can be positioned as a digital governance platform with explicit privacy and accountability safeguards, not just a generic service portal.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73152"/>
          </a:xfrm>
          <a:prstGeom prst="rect">
            <a:avLst/>
          </a:prstGeom>
          <a:solidFill>
            <a:srgbClr val="123B44"/>
          </a:solidFill>
          <a:ln>
            <a:solidFill>
              <a:srgbClr val="12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620256"/>
            <a:ext cx="9875520" cy="164592"/>
          </a:xfrm>
          <a:prstGeom prst="rect">
            <a:avLst/>
          </a:prstGeom>
          <a:noFill/>
        </p:spPr>
        <p:txBody>
          <a:bodyPr wrap="square" anchor="t" lIns="18288" rIns="18288" tIns="14630" bIns="1097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Repo basis: README, AGENTS, PERMISSIONS_MATRIX, PROJECT_ASSESSMENT, PRODUCTION_READINESS_REPORT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601968"/>
            <a:ext cx="1051560" cy="182880"/>
          </a:xfrm>
          <a:prstGeom prst="rect">
            <a:avLst/>
          </a:prstGeom>
          <a:noFill/>
        </p:spPr>
        <p:txBody>
          <a:bodyPr wrap="square" anchor="t" lIns="9144" rIns="9144" tIns="7315" bIns="548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858000" cy="32004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06A57"/>
                </a:solidFill>
                <a:latin typeface="Aptos"/>
              </a:rPr>
              <a:t>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6858000" cy="73152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252B"/>
                </a:solidFill>
                <a:latin typeface="Aptos Display"/>
              </a:rPr>
              <a:t>Current Readiness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858000" cy="64008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The platform has a working foundation, but launch should still be managed as a hardening exercise.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5212080" cy="4251960"/>
          </a:xfrm>
          <a:prstGeom prst="roundRect">
            <a:avLst/>
          </a:prstGeom>
          <a:solidFill>
            <a:srgbClr val="E5F2E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08760"/>
            <a:ext cx="491947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23B44"/>
                </a:solidFill>
                <a:latin typeface="Aptos Display"/>
              </a:rPr>
              <a:t>Implemented and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47088"/>
            <a:ext cx="4919472" cy="373075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60" b="0" i="0">
                <a:solidFill>
                  <a:srgbClr val="1F252B"/>
                </a:solidFill>
                <a:latin typeface="Aptos"/>
              </a:rPr>
              <a:t>Hierarchical admin model with separate portals and clear role boundaries</a:t>
            </a:r>
          </a:p>
          <a:p>
            <a:pPr algn="l">
              <a:spcAft>
                <a:spcPts val="400"/>
              </a:spcAft>
            </a:pPr>
            <a:r>
              <a:rPr sz="1260" b="0" i="0">
                <a:solidFill>
                  <a:srgbClr val="1F252B"/>
                </a:solidFill>
                <a:latin typeface="Aptos"/>
              </a:rPr>
              <a:t>Documents, announcements, benefits, issues, marketplace, and notifications already implemented</a:t>
            </a:r>
          </a:p>
          <a:p>
            <a:pPr algn="l">
              <a:spcAft>
                <a:spcPts val="400"/>
              </a:spcAft>
            </a:pPr>
            <a:r>
              <a:rPr sz="1260" b="0" i="0">
                <a:solidFill>
                  <a:srgbClr val="1F252B"/>
                </a:solidFill>
                <a:latin typeface="Aptos"/>
              </a:rPr>
              <a:t>Special-status and fee logic verified in the production readiness report</a:t>
            </a:r>
          </a:p>
          <a:p>
            <a:pPr algn="l">
              <a:spcAft>
                <a:spcPts val="400"/>
              </a:spcAft>
            </a:pPr>
            <a:r>
              <a:rPr sz="1260" b="0" i="0">
                <a:solidFill>
                  <a:srgbClr val="1F252B"/>
                </a:solidFill>
                <a:latin typeface="Aptos"/>
              </a:rPr>
              <a:t>Integration tests and API health checks passed for verified document-related flows</a:t>
            </a:r>
          </a:p>
          <a:p>
            <a:pPr algn="l">
              <a:spcAft>
                <a:spcPts val="400"/>
              </a:spcAft>
            </a:pPr>
            <a:r>
              <a:rPr sz="1260" b="0" i="0">
                <a:solidFill>
                  <a:srgbClr val="1F252B"/>
                </a:solidFill>
                <a:latin typeface="Aptos"/>
              </a:rPr>
              <a:t>Railway and Docker deployment configurations already exist in the repo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212080" cy="425196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508760"/>
            <a:ext cx="491947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252B"/>
                </a:solidFill>
                <a:latin typeface="Aptos Display"/>
              </a:rPr>
              <a:t>Launch hardening still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1847088"/>
            <a:ext cx="4919472" cy="373075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60" b="0" i="0">
                <a:solidFill>
                  <a:srgbClr val="1F252B"/>
                </a:solidFill>
                <a:latin typeface="Aptos"/>
              </a:rPr>
              <a:t>Complete monitoring, alerting, and operational visibility for production</a:t>
            </a:r>
          </a:p>
          <a:p>
            <a:pPr algn="l">
              <a:spcAft>
                <a:spcPts val="400"/>
              </a:spcAft>
            </a:pPr>
            <a:r>
              <a:rPr sz="1260" b="0" i="0">
                <a:solidFill>
                  <a:srgbClr val="1F252B"/>
                </a:solidFill>
                <a:latin typeface="Aptos"/>
              </a:rPr>
              <a:t>Automate backups and validate disaster recovery procedures</a:t>
            </a:r>
          </a:p>
          <a:p>
            <a:pPr algn="l">
              <a:spcAft>
                <a:spcPts val="400"/>
              </a:spcAft>
            </a:pPr>
            <a:r>
              <a:rPr sz="1260" b="0" i="0">
                <a:solidFill>
                  <a:srgbClr val="1F252B"/>
                </a:solidFill>
                <a:latin typeface="Aptos"/>
              </a:rPr>
              <a:t>Expand end-to-end test coverage and complete user acceptance testing</a:t>
            </a:r>
          </a:p>
          <a:p>
            <a:pPr algn="l">
              <a:spcAft>
                <a:spcPts val="400"/>
              </a:spcAft>
            </a:pPr>
            <a:r>
              <a:rPr sz="1260" b="0" i="0">
                <a:solidFill>
                  <a:srgbClr val="1F252B"/>
                </a:solidFill>
                <a:latin typeface="Aptos"/>
              </a:rPr>
              <a:t>Finalize deployment runbook, environment review, and CI/CD automation</a:t>
            </a:r>
          </a:p>
          <a:p>
            <a:pPr algn="l">
              <a:spcAft>
                <a:spcPts val="400"/>
              </a:spcAft>
            </a:pPr>
            <a:r>
              <a:rPr sz="1260" b="0" i="0">
                <a:solidFill>
                  <a:srgbClr val="1F252B"/>
                </a:solidFill>
                <a:latin typeface="Aptos"/>
              </a:rPr>
              <a:t>Perform load testing and final security configuration review before public launch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806440"/>
            <a:ext cx="10863072" cy="512064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897879"/>
            <a:ext cx="10570464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23B44"/>
                </a:solidFill>
                <a:latin typeface="Aptos Display"/>
              </a:rPr>
              <a:t>Assessment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6236207"/>
            <a:ext cx="10570464" cy="-9143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080" b="0" i="0">
                <a:solidFill>
                  <a:srgbClr val="55616B"/>
                </a:solidFill>
                <a:latin typeface="Aptos"/>
              </a:rPr>
              <a:t>Project assessment describes the system as a strong foundation with an overall 4/5 rating, but recommends a focused pre-launch hardening phase before production deployment.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73152"/>
          </a:xfrm>
          <a:prstGeom prst="rect">
            <a:avLst/>
          </a:prstGeom>
          <a:solidFill>
            <a:srgbClr val="123B44"/>
          </a:solidFill>
          <a:ln>
            <a:solidFill>
              <a:srgbClr val="12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620256"/>
            <a:ext cx="9875520" cy="164592"/>
          </a:xfrm>
          <a:prstGeom prst="rect">
            <a:avLst/>
          </a:prstGeom>
          <a:noFill/>
        </p:spPr>
        <p:txBody>
          <a:bodyPr wrap="square" anchor="t" lIns="18288" rIns="18288" tIns="14630" bIns="1097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Repo basis: README, AGENTS, PERMISSIONS_MATRIX, PROJECT_ASSESSMENT, PRODUCTION_READINESS_REPORT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01968"/>
            <a:ext cx="1051560" cy="182880"/>
          </a:xfrm>
          <a:prstGeom prst="rect">
            <a:avLst/>
          </a:prstGeom>
          <a:noFill/>
        </p:spPr>
        <p:txBody>
          <a:bodyPr wrap="square" anchor="t" lIns="9144" rIns="9144" tIns="7315" bIns="548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858000" cy="32004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06A57"/>
                </a:solidFill>
                <a:latin typeface="Apto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6858000" cy="73152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252B"/>
                </a:solidFill>
                <a:latin typeface="Aptos Display"/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858000" cy="64008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Suggested path to move from current codebase to live municipal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2240280" cy="3337560"/>
          </a:xfrm>
          <a:prstGeom prst="roundRect">
            <a:avLst/>
          </a:prstGeom>
          <a:solidFill>
            <a:srgbClr val="123B44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64208"/>
            <a:ext cx="194767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02536"/>
            <a:ext cx="1947672" cy="281635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10" b="0" i="0">
                <a:solidFill>
                  <a:srgbClr val="F4EBDD"/>
                </a:solidFill>
                <a:latin typeface="Aptos"/>
              </a:rPr>
              <a:t>Weeks 1-2</a:t>
            </a:r>
          </a:p>
          <a:p>
            <a:pPr algn="l">
              <a:spcAft>
                <a:spcPts val="400"/>
              </a:spcAft>
            </a:pPr>
            <a:r>
              <a:rPr sz="1210" b="0" i="0">
                <a:solidFill>
                  <a:srgbClr val="F4EBDD"/>
                </a:solidFill>
                <a:latin typeface="Aptos"/>
              </a:rPr>
              <a:t>Security hardening</a:t>
            </a:r>
          </a:p>
          <a:p>
            <a:pPr algn="l">
              <a:spcAft>
                <a:spcPts val="400"/>
              </a:spcAft>
            </a:pPr>
            <a:r>
              <a:rPr sz="1210" b="0" i="0">
                <a:solidFill>
                  <a:srgbClr val="F4EBDD"/>
                </a:solidFill>
                <a:latin typeface="Aptos"/>
              </a:rPr>
              <a:t>Validation and config review</a:t>
            </a:r>
          </a:p>
          <a:p>
            <a:pPr algn="l">
              <a:spcAft>
                <a:spcPts val="400"/>
              </a:spcAft>
            </a:pPr>
            <a:r>
              <a:rPr sz="1210" b="0" i="0">
                <a:solidFill>
                  <a:srgbClr val="F4EBDD"/>
                </a:solidFill>
                <a:latin typeface="Aptos"/>
              </a:rPr>
              <a:t>Scope and access control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9584" y="1572768"/>
            <a:ext cx="22402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664208"/>
            <a:ext cx="194767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23B44"/>
                </a:solidFill>
                <a:latin typeface="Aptos Display"/>
              </a:rP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002536"/>
            <a:ext cx="1947672" cy="281635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10" b="0" i="0">
                <a:solidFill>
                  <a:srgbClr val="1F252B"/>
                </a:solidFill>
                <a:latin typeface="Aptos"/>
              </a:rPr>
              <a:t>Weeks 3-4</a:t>
            </a:r>
          </a:p>
          <a:p>
            <a:pPr algn="l">
              <a:spcAft>
                <a:spcPts val="400"/>
              </a:spcAft>
            </a:pPr>
            <a:r>
              <a:rPr sz="1210" b="0" i="0">
                <a:solidFill>
                  <a:srgbClr val="1F252B"/>
                </a:solidFill>
                <a:latin typeface="Aptos"/>
              </a:rPr>
              <a:t>Monitoring and backups</a:t>
            </a:r>
          </a:p>
          <a:p>
            <a:pPr algn="l">
              <a:spcAft>
                <a:spcPts val="400"/>
              </a:spcAft>
            </a:pPr>
            <a:r>
              <a:rPr sz="1210" b="0" i="0">
                <a:solidFill>
                  <a:srgbClr val="1F252B"/>
                </a:solidFill>
                <a:latin typeface="Aptos"/>
              </a:rPr>
              <a:t>Deployment runbook</a:t>
            </a:r>
          </a:p>
          <a:p>
            <a:pPr algn="l">
              <a:spcAft>
                <a:spcPts val="400"/>
              </a:spcAft>
            </a:pPr>
            <a:r>
              <a:rPr sz="1210" b="0" i="0">
                <a:solidFill>
                  <a:srgbClr val="1F252B"/>
                </a:solidFill>
                <a:latin typeface="Aptos"/>
              </a:rPr>
              <a:t>Environment and service setup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72768"/>
            <a:ext cx="22402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664208"/>
            <a:ext cx="194767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23B44"/>
                </a:solidFill>
                <a:latin typeface="Aptos Display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002536"/>
            <a:ext cx="1947672" cy="281635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10" b="0" i="0">
                <a:solidFill>
                  <a:srgbClr val="1F252B"/>
                </a:solidFill>
                <a:latin typeface="Aptos"/>
              </a:rPr>
              <a:t>Weeks 5-6</a:t>
            </a:r>
          </a:p>
          <a:p>
            <a:pPr algn="l">
              <a:spcAft>
                <a:spcPts val="400"/>
              </a:spcAft>
            </a:pPr>
            <a:r>
              <a:rPr sz="1210" b="0" i="0">
                <a:solidFill>
                  <a:srgbClr val="1F252B"/>
                </a:solidFill>
                <a:latin typeface="Aptos"/>
              </a:rPr>
              <a:t>UAT and load testing</a:t>
            </a:r>
          </a:p>
          <a:p>
            <a:pPr algn="l">
              <a:spcAft>
                <a:spcPts val="400"/>
              </a:spcAft>
            </a:pPr>
            <a:r>
              <a:rPr sz="1210" b="0" i="0">
                <a:solidFill>
                  <a:srgbClr val="1F252B"/>
                </a:solidFill>
                <a:latin typeface="Aptos"/>
              </a:rPr>
              <a:t>Notification and payment verification</a:t>
            </a:r>
          </a:p>
          <a:p>
            <a:pPr algn="l">
              <a:spcAft>
                <a:spcPts val="400"/>
              </a:spcAft>
            </a:pPr>
            <a:r>
              <a:rPr sz="1210" b="0" i="0">
                <a:solidFill>
                  <a:srgbClr val="1F252B"/>
                </a:solidFill>
                <a:latin typeface="Aptos"/>
              </a:rPr>
              <a:t>Pilot readiness sign-off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2016" y="1572768"/>
            <a:ext cx="2240280" cy="3337560"/>
          </a:xfrm>
          <a:prstGeom prst="roundRect">
            <a:avLst/>
          </a:prstGeom>
          <a:solidFill>
            <a:srgbClr val="E06A57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664208"/>
            <a:ext cx="194767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ptos Display"/>
              </a:rPr>
              <a:t>Phase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002536"/>
            <a:ext cx="1947672" cy="281635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10" b="0" i="0">
                <a:solidFill>
                  <a:srgbClr val="FFFFFF"/>
                </a:solidFill>
                <a:latin typeface="Aptos"/>
              </a:rPr>
              <a:t>Weeks 7-8</a:t>
            </a:r>
          </a:p>
          <a:p>
            <a:pPr algn="l">
              <a:spcAft>
                <a:spcPts val="400"/>
              </a:spcAft>
            </a:pPr>
            <a:r>
              <a:rPr sz="1210" b="0" i="0">
                <a:solidFill>
                  <a:srgbClr val="FFFFFF"/>
                </a:solidFill>
                <a:latin typeface="Aptos"/>
              </a:rPr>
              <a:t>Controlled pilot launch</a:t>
            </a:r>
          </a:p>
          <a:p>
            <a:pPr algn="l">
              <a:spcAft>
                <a:spcPts val="400"/>
              </a:spcAft>
            </a:pPr>
            <a:r>
              <a:rPr sz="1210" b="0" i="0">
                <a:solidFill>
                  <a:srgbClr val="FFFFFF"/>
                </a:solidFill>
                <a:latin typeface="Aptos"/>
              </a:rPr>
              <a:t>Issue triage and stabilization</a:t>
            </a:r>
          </a:p>
          <a:p>
            <a:pPr algn="l">
              <a:spcAft>
                <a:spcPts val="400"/>
              </a:spcAft>
            </a:pPr>
            <a:r>
              <a:rPr sz="1210" b="0" i="0">
                <a:solidFill>
                  <a:srgbClr val="FFFFFF"/>
                </a:solidFill>
                <a:latin typeface="Aptos"/>
              </a:rPr>
              <a:t>KPI baseline reporting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98648" y="3246120"/>
            <a:ext cx="630936" cy="0"/>
          </a:xfrm>
          <a:prstGeom prst="line">
            <a:avLst/>
          </a:prstGeom>
          <a:ln w="27940">
            <a:solidFill>
              <a:srgbClr val="3D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769864" y="3246120"/>
            <a:ext cx="630936" cy="0"/>
          </a:xfrm>
          <a:prstGeom prst="line">
            <a:avLst/>
          </a:prstGeom>
          <a:ln w="27940">
            <a:solidFill>
              <a:srgbClr val="3D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41080" y="3246120"/>
            <a:ext cx="630936" cy="0"/>
          </a:xfrm>
          <a:prstGeom prst="line">
            <a:avLst/>
          </a:prstGeom>
          <a:ln w="27940">
            <a:solidFill>
              <a:srgbClr val="3D8C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8368" y="5303520"/>
            <a:ext cx="10881360" cy="877824"/>
          </a:xfrm>
          <a:prstGeom prst="roundRect">
            <a:avLst/>
          </a:prstGeom>
          <a:solidFill>
            <a:srgbClr val="E5F2E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394959"/>
            <a:ext cx="1058875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23B44"/>
                </a:solidFill>
                <a:latin typeface="Aptos Display"/>
              </a:rPr>
              <a:t>Timeline note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733288"/>
            <a:ext cx="10588752" cy="356616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140" b="0" i="0">
                <a:solidFill>
                  <a:srgbClr val="1F252B"/>
                </a:solidFill>
                <a:latin typeface="Aptos"/>
              </a:rPr>
              <a:t>This 8-week schedule is a proposal-oriented synthesis based on the current project assessment and readiness documents. It assumes the codebase remains the implementation baseline and the remaining work centers on hardening, testing, and operational rollout.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73152"/>
          </a:xfrm>
          <a:prstGeom prst="rect">
            <a:avLst/>
          </a:prstGeom>
          <a:solidFill>
            <a:srgbClr val="123B44"/>
          </a:solidFill>
          <a:ln>
            <a:solidFill>
              <a:srgbClr val="12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620256"/>
            <a:ext cx="9875520" cy="164592"/>
          </a:xfrm>
          <a:prstGeom prst="rect">
            <a:avLst/>
          </a:prstGeom>
          <a:noFill/>
        </p:spPr>
        <p:txBody>
          <a:bodyPr wrap="square" anchor="t" lIns="18288" rIns="18288" tIns="14630" bIns="1097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Repo basis: README, AGENTS, PERMISSIONS_MATRIX, PROJECT_ASSESSMENT, PRODUCTION_READINESS_REPORT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601968"/>
            <a:ext cx="1051560" cy="182880"/>
          </a:xfrm>
          <a:prstGeom prst="rect">
            <a:avLst/>
          </a:prstGeom>
          <a:noFill/>
        </p:spPr>
        <p:txBody>
          <a:bodyPr wrap="square" anchor="t" lIns="9144" rIns="9144" tIns="7315" bIns="548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858000" cy="32004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06A57"/>
                </a:solidFill>
                <a:latin typeface="Aptos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6858000" cy="73152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252B"/>
                </a:solidFill>
                <a:latin typeface="Aptos Display"/>
              </a:rPr>
              <a:t>Deployment Model and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858000" cy="64008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Practical setup for production rollout using the repository's supported deployment path.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3474720" cy="1463040"/>
          </a:xfrm>
          <a:prstGeom prst="roundRect">
            <a:avLst/>
          </a:prstGeom>
          <a:solidFill>
            <a:srgbClr val="EAF5F6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45920"/>
            <a:ext cx="318211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23B44"/>
                </a:solidFill>
                <a:latin typeface="Aptos Display"/>
              </a:rPr>
              <a:t>API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84248"/>
            <a:ext cx="3182112" cy="94183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 i="0">
                <a:solidFill>
                  <a:srgbClr val="1F252B"/>
                </a:solidFill>
                <a:latin typeface="Aptos"/>
              </a:rPr>
              <a:t>Flask app for auth, business logic, uploads, notifications, and QR verification.</a:t>
            </a:r>
          </a:p>
          <a:p>
            <a:pPr algn="l">
              <a:spcAft>
                <a:spcPts val="400"/>
              </a:spcAft>
            </a:pPr>
            <a:r>
              <a:rPr sz="1220" b="0" i="0">
                <a:solidFill>
                  <a:srgbClr val="1F252B"/>
                </a:solidFill>
                <a:latin typeface="Aptos"/>
              </a:rPr>
              <a:t>Backed by Supabase PostgreSQL and 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554480"/>
            <a:ext cx="3474720" cy="146304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645920"/>
            <a:ext cx="318211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23B44"/>
                </a:solidFill>
                <a:latin typeface="Aptos Display"/>
              </a:rPr>
              <a:t>Resident Web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984248"/>
            <a:ext cx="3182112" cy="94183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 i="0">
                <a:solidFill>
                  <a:srgbClr val="1F252B"/>
                </a:solidFill>
                <a:latin typeface="Aptos"/>
              </a:rPr>
              <a:t>React public site for resident sign-in, service requests, browsing, and verification pages.</a:t>
            </a:r>
          </a:p>
          <a:p>
            <a:pPr algn="l">
              <a:spcAft>
                <a:spcPts val="400"/>
              </a:spcAft>
            </a:pPr>
            <a:r>
              <a:rPr sz="1220" b="0" i="0">
                <a:solidFill>
                  <a:srgbClr val="1F252B"/>
                </a:solidFill>
                <a:latin typeface="Aptos"/>
              </a:rPr>
              <a:t>Uses the shared API layer and auth bootstrap 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554480"/>
            <a:ext cx="3474720" cy="1463040"/>
          </a:xfrm>
          <a:prstGeom prst="roundRect">
            <a:avLst/>
          </a:prstGeom>
          <a:solidFill>
            <a:srgbClr val="EAF5F6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645920"/>
            <a:ext cx="318211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23B44"/>
                </a:solidFill>
                <a:latin typeface="Aptos Display"/>
              </a:rPr>
              <a:t>Admin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984248"/>
            <a:ext cx="3182112" cy="94183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 i="0">
                <a:solidFill>
                  <a:srgbClr val="1F252B"/>
                </a:solidFill>
                <a:latin typeface="Aptos"/>
              </a:rPr>
              <a:t>React admin portal for municipal, barangay, provincial, and superadmin workflows.</a:t>
            </a:r>
          </a:p>
          <a:p>
            <a:pPr algn="l">
              <a:spcAft>
                <a:spcPts val="400"/>
              </a:spcAft>
            </a:pPr>
            <a:r>
              <a:rPr sz="1220" b="0" i="0">
                <a:solidFill>
                  <a:srgbClr val="1F252B"/>
                </a:solidFill>
                <a:latin typeface="Aptos"/>
              </a:rPr>
              <a:t>Supports role-specific routes and scoped operations.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429000"/>
            <a:ext cx="5303520" cy="20574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520440"/>
            <a:ext cx="501091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252B"/>
                </a:solidFill>
                <a:latin typeface="Aptos Display"/>
              </a:rPr>
              <a:t>Operational prerequisites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858768"/>
            <a:ext cx="5010912" cy="153619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 i="0">
                <a:solidFill>
                  <a:srgbClr val="1F252B"/>
                </a:solidFill>
                <a:latin typeface="Aptos"/>
              </a:rPr>
              <a:t>Database and storage configured</a:t>
            </a:r>
          </a:p>
          <a:p>
            <a:pPr algn="l">
              <a:spcAft>
                <a:spcPts val="400"/>
              </a:spcAft>
            </a:pPr>
            <a:r>
              <a:rPr sz="1240" b="0" i="0">
                <a:solidFill>
                  <a:srgbClr val="1F252B"/>
                </a:solidFill>
                <a:latin typeface="Aptos"/>
              </a:rPr>
              <a:t>Required secrets set: DATABASE_URL, SECRET_KEY, JWT_SECRET_KEY, ADMIN_SECRET_KEY</a:t>
            </a:r>
          </a:p>
          <a:p>
            <a:pPr algn="l">
              <a:spcAft>
                <a:spcPts val="400"/>
              </a:spcAft>
            </a:pPr>
            <a:r>
              <a:rPr sz="1240" b="0" i="0">
                <a:solidFill>
                  <a:srgbClr val="1F252B"/>
                </a:solidFill>
                <a:latin typeface="Aptos"/>
              </a:rPr>
              <a:t>Email, SMS, and payment credentials added where applicable</a:t>
            </a:r>
          </a:p>
          <a:p>
            <a:pPr algn="l">
              <a:spcAft>
                <a:spcPts val="400"/>
              </a:spcAft>
            </a:pPr>
            <a:r>
              <a:rPr sz="1240" b="0" i="0">
                <a:solidFill>
                  <a:srgbClr val="1F252B"/>
                </a:solidFill>
                <a:latin typeface="Aptos"/>
              </a:rPr>
              <a:t>Admin onboarding and training plan prepared before pilot launch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29000"/>
            <a:ext cx="5303520" cy="2057400"/>
          </a:xfrm>
          <a:prstGeom prst="roundRect">
            <a:avLst/>
          </a:prstGeom>
          <a:solidFill>
            <a:srgbClr val="E5F2E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520440"/>
            <a:ext cx="501091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23B44"/>
                </a:solidFill>
                <a:latin typeface="Aptos Display"/>
              </a:rPr>
              <a:t>Recommended deployment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858768"/>
            <a:ext cx="5010912" cy="153619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40" b="0" i="0">
                <a:solidFill>
                  <a:srgbClr val="1F252B"/>
                </a:solidFill>
                <a:latin typeface="Aptos"/>
              </a:rPr>
              <a:t>Railway is the documented primary deployment target with three services</a:t>
            </a:r>
          </a:p>
          <a:p>
            <a:pPr algn="l">
              <a:spcAft>
                <a:spcPts val="400"/>
              </a:spcAft>
            </a:pPr>
            <a:r>
              <a:rPr sz="1240" b="0" i="0">
                <a:solidFill>
                  <a:srgbClr val="1F252B"/>
                </a:solidFill>
                <a:latin typeface="Aptos"/>
              </a:rPr>
              <a:t>Docker remains available for container-based setups</a:t>
            </a:r>
          </a:p>
          <a:p>
            <a:pPr algn="l">
              <a:spcAft>
                <a:spcPts val="400"/>
              </a:spcAft>
            </a:pPr>
            <a:r>
              <a:rPr sz="1240" b="0" i="0">
                <a:solidFill>
                  <a:srgbClr val="1F252B"/>
                </a:solidFill>
                <a:latin typeface="Aptos"/>
              </a:rPr>
              <a:t>Notification worker can run as an optional background process for retry handling</a:t>
            </a:r>
          </a:p>
          <a:p>
            <a:pPr algn="l">
              <a:spcAft>
                <a:spcPts val="400"/>
              </a:spcAft>
            </a:pPr>
            <a:r>
              <a:rPr sz="1240" b="0" i="0">
                <a:solidFill>
                  <a:srgbClr val="1F252B"/>
                </a:solidFill>
                <a:latin typeface="Aptos"/>
              </a:rPr>
              <a:t>Environment review should confirm production domains, storage settings, and payment toggles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715000"/>
            <a:ext cx="10881360" cy="475488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806440"/>
            <a:ext cx="1058875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23B44"/>
                </a:solidFill>
                <a:latin typeface="Aptos Display"/>
              </a:rPr>
              <a:t>Proposal implication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6144768"/>
            <a:ext cx="10588752" cy="-45719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080" b="0" i="0">
                <a:solidFill>
                  <a:srgbClr val="55616B"/>
                </a:solidFill>
                <a:latin typeface="Aptos"/>
              </a:rPr>
              <a:t>The project is deployable within its current architecture, provided operational configuration and pre-launch validation are completed in parallel with rollout planning.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73152"/>
          </a:xfrm>
          <a:prstGeom prst="rect">
            <a:avLst/>
          </a:prstGeom>
          <a:solidFill>
            <a:srgbClr val="123B44"/>
          </a:solidFill>
          <a:ln>
            <a:solidFill>
              <a:srgbClr val="12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620256"/>
            <a:ext cx="9875520" cy="164592"/>
          </a:xfrm>
          <a:prstGeom prst="rect">
            <a:avLst/>
          </a:prstGeom>
          <a:noFill/>
        </p:spPr>
        <p:txBody>
          <a:bodyPr wrap="square" anchor="t" lIns="18288" rIns="18288" tIns="14630" bIns="1097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Repo basis: README, AGENTS, PERMISSIONS_MATRIX, PROJECT_ASSESSMENT, PRODUCTION_READINESS_REPORT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601968"/>
            <a:ext cx="1051560" cy="182880"/>
          </a:xfrm>
          <a:prstGeom prst="rect">
            <a:avLst/>
          </a:prstGeom>
          <a:noFill/>
        </p:spPr>
        <p:txBody>
          <a:bodyPr wrap="square" anchor="t" lIns="9144" rIns="9144" tIns="7315" bIns="548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858000" cy="32004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06A57"/>
                </a:solidFill>
                <a:latin typeface="Aptos"/>
              </a:rPr>
              <a:t>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6858000" cy="73152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252B"/>
                </a:solidFill>
                <a:latin typeface="Aptos Display"/>
              </a:rPr>
              <a:t>Expected Outcomes and Success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858000" cy="64008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Suggested proposal outcomes for leadership review and pilot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08760"/>
            <a:ext cx="49377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00200"/>
            <a:ext cx="464515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23B44"/>
                </a:solidFill>
                <a:latin typeface="Aptos Display"/>
              </a:rPr>
              <a:t>Expected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4645152" cy="400507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 i="0">
                <a:solidFill>
                  <a:srgbClr val="1F252B"/>
                </a:solidFill>
                <a:latin typeface="Aptos"/>
              </a:rPr>
              <a:t>Faster and more traceable document processing for residents and staff</a:t>
            </a:r>
          </a:p>
          <a:p>
            <a:pPr algn="l">
              <a:spcAft>
                <a:spcPts val="400"/>
              </a:spcAft>
            </a:pPr>
            <a:r>
              <a:rPr sz="1280" b="0" i="0">
                <a:solidFill>
                  <a:srgbClr val="1F252B"/>
                </a:solidFill>
                <a:latin typeface="Aptos"/>
              </a:rPr>
              <a:t>More reliable and properly scoped public announcements across Zambales</a:t>
            </a:r>
          </a:p>
          <a:p>
            <a:pPr algn="l">
              <a:spcAft>
                <a:spcPts val="400"/>
              </a:spcAft>
            </a:pPr>
            <a:r>
              <a:rPr sz="1280" b="0" i="0">
                <a:solidFill>
                  <a:srgbClr val="1F252B"/>
                </a:solidFill>
                <a:latin typeface="Aptos"/>
              </a:rPr>
              <a:t>Higher transparency for problem reporting and benefit application workflows</a:t>
            </a:r>
          </a:p>
          <a:p>
            <a:pPr algn="l">
              <a:spcAft>
                <a:spcPts val="400"/>
              </a:spcAft>
            </a:pPr>
            <a:r>
              <a:rPr sz="1280" b="0" i="0">
                <a:solidFill>
                  <a:srgbClr val="1F252B"/>
                </a:solidFill>
                <a:latin typeface="Aptos"/>
              </a:rPr>
              <a:t>Stronger accountability through audit logs and sensitive-action tracking</a:t>
            </a:r>
          </a:p>
          <a:p>
            <a:pPr algn="l">
              <a:spcAft>
                <a:spcPts val="400"/>
              </a:spcAft>
            </a:pPr>
            <a:r>
              <a:rPr sz="1280" b="0" i="0">
                <a:solidFill>
                  <a:srgbClr val="1F252B"/>
                </a:solidFill>
                <a:latin typeface="Aptos"/>
              </a:rPr>
              <a:t>A scalable Region 3-ready technical foundation while keeping current public scope limited to Zambales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50876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44184" y="1600200"/>
            <a:ext cx="5084064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23B44"/>
                </a:solidFill>
                <a:latin typeface="Aptos Display"/>
              </a:rPr>
              <a:t>Suggested launch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4184" y="1938528"/>
            <a:ext cx="5084064" cy="400507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80" b="0" i="0">
                <a:solidFill>
                  <a:srgbClr val="1F252B"/>
                </a:solidFill>
                <a:latin typeface="Aptos"/>
              </a:rPr>
              <a:t>Document request turnaround time</a:t>
            </a:r>
          </a:p>
          <a:p>
            <a:pPr algn="l">
              <a:spcAft>
                <a:spcPts val="400"/>
              </a:spcAft>
            </a:pPr>
            <a:r>
              <a:rPr sz="1280" b="0" i="0">
                <a:solidFill>
                  <a:srgbClr val="1F252B"/>
                </a:solidFill>
                <a:latin typeface="Aptos"/>
              </a:rPr>
              <a:t>Announcement reach and notification delivery success</a:t>
            </a:r>
          </a:p>
          <a:p>
            <a:pPr algn="l">
              <a:spcAft>
                <a:spcPts val="400"/>
              </a:spcAft>
            </a:pPr>
            <a:r>
              <a:rPr sz="1280" b="0" i="0">
                <a:solidFill>
                  <a:srgbClr val="1F252B"/>
                </a:solidFill>
                <a:latin typeface="Aptos"/>
              </a:rPr>
              <a:t>Issue report response and resolution cycle time</a:t>
            </a:r>
          </a:p>
          <a:p>
            <a:pPr algn="l">
              <a:spcAft>
                <a:spcPts val="400"/>
              </a:spcAft>
            </a:pPr>
            <a:r>
              <a:rPr sz="1280" b="0" i="0">
                <a:solidFill>
                  <a:srgbClr val="1F252B"/>
                </a:solidFill>
                <a:latin typeface="Aptos"/>
              </a:rPr>
              <a:t>Benefit application processing throughput</a:t>
            </a:r>
          </a:p>
          <a:p>
            <a:pPr algn="l">
              <a:spcAft>
                <a:spcPts val="400"/>
              </a:spcAft>
            </a:pPr>
            <a:r>
              <a:rPr sz="1280" b="0" i="0">
                <a:solidFill>
                  <a:srgbClr val="1F252B"/>
                </a:solidFill>
                <a:latin typeface="Aptos"/>
              </a:rPr>
              <a:t>Digital and manual payment completion visibility</a:t>
            </a:r>
          </a:p>
          <a:p>
            <a:pPr algn="l">
              <a:spcAft>
                <a:spcPts val="400"/>
              </a:spcAft>
            </a:pPr>
            <a:r>
              <a:rPr sz="1280" b="0" i="0">
                <a:solidFill>
                  <a:srgbClr val="1F252B"/>
                </a:solidFill>
                <a:latin typeface="Aptos"/>
              </a:rPr>
              <a:t>Audit log coverage for sensitive admin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577840"/>
            <a:ext cx="10616184" cy="530352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69279"/>
            <a:ext cx="10323576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F252B"/>
                </a:solidFill>
                <a:latin typeface="Aptos Display"/>
              </a:rPr>
              <a:t>Measurement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6007607"/>
            <a:ext cx="10323576" cy="9144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090" b="0" i="0">
                <a:solidFill>
                  <a:srgbClr val="1F252B"/>
                </a:solidFill>
                <a:latin typeface="Aptos"/>
              </a:rPr>
              <a:t>These KPIs are proposed management measures for rollout. They are intended to guide pilot evaluation rather than describe already-reported performance targets.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73152"/>
          </a:xfrm>
          <a:prstGeom prst="rect">
            <a:avLst/>
          </a:prstGeom>
          <a:solidFill>
            <a:srgbClr val="123B44"/>
          </a:solidFill>
          <a:ln>
            <a:solidFill>
              <a:srgbClr val="12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620256"/>
            <a:ext cx="9875520" cy="164592"/>
          </a:xfrm>
          <a:prstGeom prst="rect">
            <a:avLst/>
          </a:prstGeom>
          <a:noFill/>
        </p:spPr>
        <p:txBody>
          <a:bodyPr wrap="square" anchor="t" lIns="18288" rIns="18288" tIns="14630" bIns="1097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Repo basis: README, AGENTS, PERMISSIONS_MATRIX, PROJECT_ASSESSMENT, PRODUCTION_READINESS_REPORT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01968"/>
            <a:ext cx="1051560" cy="182880"/>
          </a:xfrm>
          <a:prstGeom prst="rect">
            <a:avLst/>
          </a:prstGeom>
          <a:noFill/>
        </p:spPr>
        <p:txBody>
          <a:bodyPr wrap="square" anchor="t" lIns="9144" rIns="9144" tIns="7315" bIns="548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858000" cy="32004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06A57"/>
                </a:solidFill>
                <a:latin typeface="Aptos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6858000" cy="73152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F252B"/>
                </a:solidFill>
                <a:latin typeface="Aptos Display"/>
              </a:rPr>
              <a:t>Recommendation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6858000" cy="640080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616B"/>
                </a:solidFill>
                <a:latin typeface="Aptos"/>
              </a:rPr>
              <a:t>Proposal close: approve MunLink for staged Zambales deployment with a short hardening runway.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44752"/>
            <a:ext cx="5806440" cy="3200400"/>
          </a:xfrm>
          <a:prstGeom prst="roundRect">
            <a:avLst/>
          </a:prstGeom>
          <a:solidFill>
            <a:srgbClr val="123B44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36192"/>
            <a:ext cx="5513831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ptos Display"/>
              </a:rP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74519"/>
            <a:ext cx="5513831" cy="267919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4EBDD"/>
                </a:solidFill>
                <a:latin typeface="Aptos"/>
              </a:rPr>
              <a:t>Approve MunLink as a digital municipal services platform for Zambales.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4EBDD"/>
                </a:solidFill>
                <a:latin typeface="Aptos"/>
              </a:rPr>
              <a:t>Treat the current codebase as the implementation baseline, with the proposal focused on deployment, hardening, and pilot operations rather than rebuild.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4EBDD"/>
                </a:solidFill>
                <a:latin typeface="Aptos"/>
              </a:rPr>
              <a:t>Use a staged rollout so the LGU can validate workflows, security controls, and service adoption before wider expansion.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444752"/>
            <a:ext cx="4690872" cy="3200400"/>
          </a:xfrm>
          <a:prstGeom prst="roundRect">
            <a:avLst/>
          </a:prstGeom>
          <a:solidFill>
            <a:srgbClr val="E5F2EF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58584" y="1536192"/>
            <a:ext cx="4398264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23B44"/>
                </a:solidFill>
                <a:latin typeface="Aptos Display"/>
              </a:rPr>
              <a:t>Immediate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8584" y="1874519"/>
            <a:ext cx="4398264" cy="267919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270" b="0" i="0">
                <a:solidFill>
                  <a:srgbClr val="1F252B"/>
                </a:solidFill>
                <a:latin typeface="Aptos"/>
              </a:rPr>
              <a:t>1. Approve pilot offices or municipalities within Zambales</a:t>
            </a:r>
          </a:p>
          <a:p>
            <a:pPr algn="l">
              <a:spcAft>
                <a:spcPts val="400"/>
              </a:spcAft>
            </a:pPr>
            <a:r>
              <a:rPr sz="1270" b="0" i="0">
                <a:solidFill>
                  <a:srgbClr val="1F252B"/>
                </a:solidFill>
                <a:latin typeface="Aptos"/>
              </a:rPr>
              <a:t>2. Finish security and operations hardening checklist</a:t>
            </a:r>
          </a:p>
          <a:p>
            <a:pPr algn="l">
              <a:spcAft>
                <a:spcPts val="400"/>
              </a:spcAft>
            </a:pPr>
            <a:r>
              <a:rPr sz="1270" b="0" i="0">
                <a:solidFill>
                  <a:srgbClr val="1F252B"/>
                </a:solidFill>
                <a:latin typeface="Aptos"/>
              </a:rPr>
              <a:t>3. Configure hosting, storage, notifications, and payment services</a:t>
            </a:r>
          </a:p>
          <a:p>
            <a:pPr algn="l">
              <a:spcAft>
                <a:spcPts val="400"/>
              </a:spcAft>
            </a:pPr>
            <a:r>
              <a:rPr sz="1270" b="0" i="0">
                <a:solidFill>
                  <a:srgbClr val="1F252B"/>
                </a:solidFill>
                <a:latin typeface="Aptos"/>
              </a:rPr>
              <a:t>4. Train admins, launch a controlled pilot, and monitor KPI baselines</a:t>
            </a:r>
          </a:p>
        </p:txBody>
      </p:sp>
      <p:pic>
        <p:nvPicPr>
          <p:cNvPr id="11" name="Picture 10" descr="munlink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983480"/>
            <a:ext cx="914400" cy="914400"/>
          </a:xfrm>
          <a:prstGeom prst="rect">
            <a:avLst/>
          </a:prstGeom>
        </p:spPr>
      </p:pic>
      <p:pic>
        <p:nvPicPr>
          <p:cNvPr id="12" name="Picture 11" descr="zamb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4901184"/>
            <a:ext cx="868680" cy="8686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788920" y="4892040"/>
            <a:ext cx="8732520" cy="1234440"/>
          </a:xfrm>
          <a:prstGeom prst="roundRect">
            <a:avLst/>
          </a:prstGeom>
          <a:solidFill>
            <a:srgbClr val="FBF8F2"/>
          </a:solidFill>
          <a:ln w="12700">
            <a:solidFill>
              <a:srgbClr val="D7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5224" y="4983479"/>
            <a:ext cx="8439912" cy="384048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23B44"/>
                </a:solidFill>
                <a:latin typeface="Aptos Display"/>
              </a:rPr>
              <a:t>Source basis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5224" y="5321807"/>
            <a:ext cx="8439912" cy="713232"/>
          </a:xfrm>
          <a:prstGeom prst="rect">
            <a:avLst/>
          </a:prstGeom>
          <a:noFill/>
        </p:spPr>
        <p:txBody>
          <a:bodyPr wrap="square" anchor="t" lIns="73152" rIns="73152" tIns="58521" bIns="43891">
            <a:spAutoFit/>
          </a:bodyPr>
          <a:lstStyle/>
          <a:p>
            <a:pPr algn="l">
              <a:spcAft>
                <a:spcPts val="400"/>
              </a:spcAft>
            </a:pPr>
            <a:r>
              <a:rPr sz="1140" b="0" i="0">
                <a:solidFill>
                  <a:srgbClr val="55616B"/>
                </a:solidFill>
                <a:latin typeface="Aptos"/>
              </a:rPr>
              <a:t>AGENTS.md, README.md, PERMISSIONS_MATRIX.md, PROJECT_ASSESSMENT.md, and PRODUCTION_READINESS_REPORT.md</a:t>
            </a:r>
          </a:p>
          <a:p>
            <a:pPr algn="l">
              <a:spcAft>
                <a:spcPts val="400"/>
              </a:spcAft>
            </a:pPr>
            <a:r>
              <a:rPr sz="1140" b="0" i="0">
                <a:solidFill>
                  <a:srgbClr val="55616B"/>
                </a:solidFill>
                <a:latin typeface="Aptos"/>
              </a:rPr>
              <a:t>Problem framing, rollout phases, and KPI suggestions are proposal-oriented synthesis based on those repository documents.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73152"/>
          </a:xfrm>
          <a:prstGeom prst="rect">
            <a:avLst/>
          </a:prstGeom>
          <a:solidFill>
            <a:srgbClr val="123B44"/>
          </a:solidFill>
          <a:ln>
            <a:solidFill>
              <a:srgbClr val="123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620256"/>
            <a:ext cx="9875520" cy="164592"/>
          </a:xfrm>
          <a:prstGeom prst="rect">
            <a:avLst/>
          </a:prstGeom>
          <a:noFill/>
        </p:spPr>
        <p:txBody>
          <a:bodyPr wrap="square" anchor="t" lIns="18288" rIns="18288" tIns="14630" bIns="1097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Repo basis: README, AGENTS, PERMISSIONS_MATRIX, PROJECT_ASSESSMENT, PRODUCTION_READINESS_REPORT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601968"/>
            <a:ext cx="1051560" cy="182880"/>
          </a:xfrm>
          <a:prstGeom prst="rect">
            <a:avLst/>
          </a:prstGeom>
          <a:noFill/>
        </p:spPr>
        <p:txBody>
          <a:bodyPr wrap="square" anchor="t" lIns="9144" rIns="9144" tIns="7315" bIns="548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i="0">
                <a:solidFill>
                  <a:srgbClr val="55616B"/>
                </a:solidFill>
                <a:latin typeface="Aptos"/>
              </a:rPr>
              <a:t>Slide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MunLink Zambales Project Proposal</dc:title>
  <dc:subject>Digital municipal services platform proposal for Zambales</dc:subject>
  <dc:creator>OpenAI Codex</dc:creator>
  <cp:keywords/>
  <dc:description>Generated from repository documentation in the MunLink monorepo.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