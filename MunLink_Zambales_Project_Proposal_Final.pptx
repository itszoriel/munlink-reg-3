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0"/>
            <a:ext cx="43891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103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09160" y="0"/>
            <a:ext cx="109728" cy="6858000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794760" y="411480"/>
            <a:ext cx="457200" cy="457200"/>
          </a:xfrm>
          <a:prstGeom prst="ellipse">
            <a:avLst/>
          </a:prstGeom>
          <a:noFill/>
          <a:ln>
            <a:solidFill>
              <a:srgbClr val="609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069080" y="228600"/>
            <a:ext cx="201168" cy="201168"/>
          </a:xfrm>
          <a:prstGeom prst="ellipse">
            <a:avLst/>
          </a:prstGeom>
          <a:noFill/>
          <a:ln>
            <a:solidFill>
              <a:srgbClr val="609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33832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A6F57"/>
                </a:solidFill>
                <a:latin typeface="Aptos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41832"/>
            <a:ext cx="4023360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FFFFF"/>
                </a:solidFill>
                <a:latin typeface="Aptos"/>
              </a:rPr>
              <a:t>MunLink</a:t>
            </a:r>
          </a:p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FFFFFF"/>
                </a:solidFill>
                <a:latin typeface="Aptos"/>
              </a:rPr>
              <a:t>Zambales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93392"/>
            <a:ext cx="3749039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2EBED"/>
                </a:solidFill>
                <a:latin typeface="Aptos"/>
              </a:rPr>
              <a:t>A digital municipal services platform designed to improve public service delivery, community communication, and local governance in Zambales.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212080"/>
            <a:ext cx="1353312" cy="310896"/>
          </a:xfrm>
          <a:prstGeom prst="round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5239512"/>
            <a:ext cx="135331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12848" y="5212080"/>
            <a:ext cx="1353312" cy="310896"/>
          </a:xfrm>
          <a:prstGeom prst="roundRect">
            <a:avLst/>
          </a:prstGeom>
          <a:solidFill>
            <a:srgbClr val="1F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12848" y="5239512"/>
            <a:ext cx="135331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Announcements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50992"/>
            <a:ext cx="1353312" cy="310896"/>
          </a:xfrm>
          <a:prstGeom prst="round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5678424"/>
            <a:ext cx="135331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Benefits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12848" y="5650992"/>
            <a:ext cx="1353312" cy="310896"/>
          </a:xfrm>
          <a:prstGeom prst="roundRect">
            <a:avLst/>
          </a:prstGeom>
          <a:solidFill>
            <a:srgbClr val="1F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12848" y="5678424"/>
            <a:ext cx="135331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315968"/>
            <a:ext cx="3657600" cy="594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D2E0E4"/>
                </a:solidFill>
                <a:latin typeface="Aptos"/>
              </a:rPr>
              <a:t>Focused on making government services more accessible, organized, and responsive for residents, barangays, and municipal offices in Zambales.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108192"/>
            <a:ext cx="329184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7D4D8"/>
                </a:solidFill>
                <a:latin typeface="Aptos"/>
              </a:rPr>
              <a:t>Prepared for project presentation | April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8138160" cy="27432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Aptos"/>
              </a:rPr>
              <a:t>MunLink Zambales Project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6464808"/>
            <a:ext cx="6400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4206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A6F57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4937760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127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5394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8676E"/>
                </a:solidFill>
                <a:latin typeface="Aptos"/>
              </a:rPr>
              <a:t>MunLink is a digital governance project designed for Zambales.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379476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52127"/>
                </a:solidFill>
                <a:latin typeface="Aptos"/>
              </a:rPr>
              <a:t>The project brings several public services into one accessible system for residents and local offices. Instead of depending only on manual processing, MunLink creates a clearer and more efficient way to manage requests, updates, reports, and community transactions.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29000"/>
            <a:ext cx="3749039" cy="1051560"/>
          </a:xfrm>
          <a:prstGeom prst="round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3657600"/>
            <a:ext cx="3383280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52127"/>
                </a:solidFill>
                <a:latin typeface="Aptos"/>
              </a:rPr>
              <a:t>This project is not only about building software. It is about improving how people in Zambales access local government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874519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2039112"/>
            <a:ext cx="150876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EA6F57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2496312"/>
            <a:ext cx="12984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8676E"/>
                </a:solidFill>
                <a:latin typeface="Aptos"/>
              </a:rPr>
              <a:t>core service areas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874519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039112"/>
            <a:ext cx="150876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EA6F57"/>
                </a:solidFill>
                <a:latin typeface="Aptos"/>
              </a:rPr>
              <a:t>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496312"/>
            <a:ext cx="12984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8676E"/>
                </a:solidFill>
                <a:latin typeface="Aptos"/>
              </a:rPr>
              <a:t>digital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38328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3547872"/>
            <a:ext cx="150876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EA6F57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4005072"/>
            <a:ext cx="12984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8676E"/>
                </a:solidFill>
                <a:latin typeface="Aptos"/>
              </a:rPr>
              <a:t>unified 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38328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3547872"/>
            <a:ext cx="150876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EA6F57"/>
                </a:solidFill>
                <a:latin typeface="Aptos"/>
              </a:rPr>
              <a:t>Public + LGU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4242816"/>
            <a:ext cx="12984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 dirty="0">
                <a:solidFill>
                  <a:srgbClr val="58676E"/>
                </a:solidFill>
                <a:latin typeface="Aptos"/>
              </a:rPr>
              <a:t>shared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8032" y="5010912"/>
            <a:ext cx="3401568" cy="822960"/>
          </a:xfrm>
          <a:prstGeom prst="roundRect">
            <a:avLst/>
          </a:prstGeom>
          <a:solidFill>
            <a:srgbClr val="103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5230368"/>
            <a:ext cx="2907792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 dirty="0">
                <a:solidFill>
                  <a:srgbClr val="FFFFFF"/>
                </a:solidFill>
                <a:latin typeface="Aptos"/>
              </a:rPr>
              <a:t>A Zambales-centered project for local public services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8138160" cy="27432"/>
          </a:xfrm>
          <a:prstGeom prst="rect">
            <a:avLst/>
          </a:prstGeom>
          <a:solidFill>
            <a:srgbClr val="D6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8676E"/>
                </a:solidFill>
                <a:latin typeface="Aptos"/>
              </a:rPr>
              <a:t>MunLink Zambales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6464808"/>
            <a:ext cx="6400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867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4206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A6F57"/>
                </a:solidFill>
                <a:latin typeface="Aptos"/>
              </a:rPr>
              <a:t>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7" y="822960"/>
            <a:ext cx="6109175" cy="44807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 dirty="0">
                <a:solidFill>
                  <a:srgbClr val="152127"/>
                </a:solidFill>
                <a:latin typeface="Aptos"/>
              </a:rPr>
              <a:t>Why This Project Matters in Zambales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1392"/>
            <a:ext cx="5394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 dirty="0">
                <a:solidFill>
                  <a:srgbClr val="58676E"/>
                </a:solidFill>
                <a:latin typeface="Aptos"/>
              </a:rPr>
              <a:t>The project responds to real service delivery challenges faced by residents and local offices.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73152" cy="1417320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93976"/>
            <a:ext cx="34015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2127"/>
                </a:solidFill>
                <a:latin typeface="Aptos"/>
              </a:rPr>
              <a:t>Manual paperwork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401568" cy="8321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 dirty="0">
                <a:solidFill>
                  <a:srgbClr val="58676E"/>
                </a:solidFill>
                <a:latin typeface="Aptos"/>
              </a:rPr>
              <a:t>Residents often need repeated office visits just to submit, follow up, or confirm routine 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6596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965960"/>
            <a:ext cx="73152" cy="1417320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2093976"/>
            <a:ext cx="34015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2127"/>
                </a:solidFill>
                <a:latin typeface="Aptos"/>
              </a:rPr>
              <a:t>Scattered announcements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423160"/>
            <a:ext cx="3401568" cy="8321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8676E"/>
                </a:solidFill>
                <a:latin typeface="Aptos"/>
              </a:rPr>
              <a:t>Important updates may not reach people quickly when information is shared through limited channels.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22191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822191"/>
            <a:ext cx="73152" cy="1417320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950207"/>
            <a:ext cx="34015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2127"/>
                </a:solidFill>
                <a:latin typeface="Aptos"/>
              </a:rPr>
              <a:t>Slow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9391"/>
            <a:ext cx="3401568" cy="8321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 dirty="0">
                <a:solidFill>
                  <a:srgbClr val="58676E"/>
                </a:solidFill>
                <a:latin typeface="Aptos"/>
              </a:rPr>
              <a:t>Without a single tracking system, requests and reports can be harder to monitor from start to finish.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822191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3822191"/>
            <a:ext cx="73152" cy="1417320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36592" y="3950207"/>
            <a:ext cx="34015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2127"/>
                </a:solidFill>
                <a:latin typeface="Aptos"/>
              </a:rPr>
              <a:t>Limited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4279391"/>
            <a:ext cx="3401568" cy="8321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 dirty="0">
                <a:solidFill>
                  <a:srgbClr val="58676E"/>
                </a:solidFill>
                <a:latin typeface="Aptos"/>
              </a:rPr>
              <a:t>Residents and staff both benefit when service progress is clearer and records are easier to organize.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623560"/>
            <a:ext cx="7827264" cy="658368"/>
          </a:xfrm>
          <a:prstGeom prst="roundRect">
            <a:avLst/>
          </a:prstGeom>
          <a:solidFill>
            <a:srgbClr val="103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815584"/>
            <a:ext cx="7315200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 dirty="0" err="1">
                <a:solidFill>
                  <a:srgbClr val="FFFFFF"/>
                </a:solidFill>
                <a:latin typeface="Aptos"/>
              </a:rPr>
              <a:t>MunLink addresses these needs by putting requests, updates, reports, and service tracking in one organized platform.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8138160" cy="27432"/>
          </a:xfrm>
          <a:prstGeom prst="rect">
            <a:avLst/>
          </a:prstGeom>
          <a:solidFill>
            <a:srgbClr val="D6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dirty="0" err="1">
                <a:solidFill>
                  <a:srgbClr val="58676E"/>
                </a:solidFill>
                <a:latin typeface="Aptos"/>
              </a:rPr>
              <a:t>MunLink Zambales Project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64808"/>
            <a:ext cx="6400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867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4206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A6F57"/>
                </a:solidFill>
                <a:latin typeface="Aptos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4937760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127"/>
                </a:solidFill>
                <a:latin typeface="Aptos"/>
              </a:rPr>
              <a:t>Core Features of MunLink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339597"/>
            <a:ext cx="5394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 dirty="0">
                <a:solidFill>
                  <a:srgbClr val="58676E"/>
                </a:solidFill>
                <a:latin typeface="Aptos"/>
              </a:rPr>
              <a:t>The platform combines resident services and government management in one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01952"/>
            <a:ext cx="2286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901952"/>
            <a:ext cx="73152" cy="1572768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0299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52127"/>
                </a:solidFill>
                <a:latin typeface="Aptos"/>
              </a:rPr>
              <a:t>Digital document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2029968" cy="9875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 i="0">
                <a:solidFill>
                  <a:srgbClr val="58676E"/>
                </a:solidFill>
                <a:latin typeface="Aptos"/>
              </a:rPr>
              <a:t>Request municipal documents with clearer status tracking and QR-based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0672" y="1901952"/>
            <a:ext cx="2286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90672" y="1901952"/>
            <a:ext cx="73152" cy="1572768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55264" y="1963157"/>
            <a:ext cx="20299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 dirty="0">
                <a:solidFill>
                  <a:srgbClr val="152127"/>
                </a:solidFill>
                <a:latin typeface="Aptos"/>
              </a:rPr>
              <a:t>Announcements and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4" y="2359152"/>
            <a:ext cx="2029968" cy="9875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 i="0">
                <a:solidFill>
                  <a:srgbClr val="58676E"/>
                </a:solidFill>
                <a:latin typeface="Aptos"/>
              </a:rPr>
              <a:t>Share public information, schedules, images, and important reminders in one channel.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2976" y="1901952"/>
            <a:ext cx="2286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22976" y="1901952"/>
            <a:ext cx="73152" cy="1572768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2029968"/>
            <a:ext cx="20299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52127"/>
                </a:solidFill>
                <a:latin typeface="Aptos"/>
              </a:rPr>
              <a:t>Problem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359152"/>
            <a:ext cx="2029968" cy="9875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 i="0">
                <a:solidFill>
                  <a:srgbClr val="58676E"/>
                </a:solidFill>
                <a:latin typeface="Aptos"/>
              </a:rPr>
              <a:t>Residents can submit concerns and monitor the progress of community issue responses.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2286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73152" cy="1572768"/>
          </a:xfrm>
          <a:prstGeom prst="rect">
            <a:avLst/>
          </a:prstGeom>
          <a:solidFill>
            <a:srgbClr val="D6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950207"/>
            <a:ext cx="20299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52127"/>
                </a:solidFill>
                <a:latin typeface="Aptos"/>
              </a:rPr>
              <a:t>Benefit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79391"/>
            <a:ext cx="2029968" cy="9875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 i="0">
                <a:solidFill>
                  <a:srgbClr val="58676E"/>
                </a:solidFill>
                <a:latin typeface="Aptos"/>
              </a:rPr>
              <a:t>Apply for assistance programs online and keep the review process more organized.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90672" y="3822191"/>
            <a:ext cx="2286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90672" y="3822191"/>
            <a:ext cx="73152" cy="1572768"/>
          </a:xfrm>
          <a:prstGeom prst="rect">
            <a:avLst/>
          </a:prstGeom>
          <a:solidFill>
            <a:srgbClr val="D6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55264" y="3950207"/>
            <a:ext cx="20299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52127"/>
                </a:solidFill>
                <a:latin typeface="Aptos"/>
              </a:rPr>
              <a:t>Community marketplace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4279391"/>
            <a:ext cx="2029968" cy="9875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 i="0" dirty="0">
                <a:solidFill>
                  <a:srgbClr val="58676E"/>
                </a:solidFill>
                <a:latin typeface="Aptos"/>
              </a:rPr>
              <a:t>Support buying, selling, donating, and lending within local communities.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22976" y="3822191"/>
            <a:ext cx="2286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522976" y="3822191"/>
            <a:ext cx="73152" cy="1572768"/>
          </a:xfrm>
          <a:prstGeom prst="rect">
            <a:avLst/>
          </a:prstGeom>
          <a:solidFill>
            <a:srgbClr val="D6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87568" y="3840479"/>
            <a:ext cx="20299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 dirty="0">
                <a:solidFill>
                  <a:srgbClr val="152127"/>
                </a:solidFill>
                <a:latin typeface="Aptos"/>
              </a:rPr>
              <a:t>Notifications and admin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7568" y="4279391"/>
            <a:ext cx="2029968" cy="9875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 i="0">
                <a:solidFill>
                  <a:srgbClr val="58676E"/>
                </a:solidFill>
                <a:latin typeface="Aptos"/>
              </a:rPr>
              <a:t>Use email, SMS, verification, and audit support for more reliable service delivery.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46520"/>
            <a:ext cx="8138160" cy="27432"/>
          </a:xfrm>
          <a:prstGeom prst="rect">
            <a:avLst/>
          </a:prstGeom>
          <a:solidFill>
            <a:srgbClr val="D6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8676E"/>
                </a:solidFill>
                <a:latin typeface="Aptos"/>
              </a:rPr>
              <a:t>MunLink Zambales Project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6464808"/>
            <a:ext cx="6400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867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4206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A6F57"/>
                </a:solidFill>
                <a:latin typeface="Aptos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4937760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127"/>
                </a:solidFill>
                <a:latin typeface="Aptos"/>
              </a:rPr>
              <a:t>How the Platform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5394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8676E"/>
                </a:solidFill>
                <a:latin typeface="Aptos"/>
              </a:rPr>
              <a:t>Three connected parts support residents, staff, and service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240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73152" cy="2743200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39696"/>
            <a:ext cx="1984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2127"/>
                </a:solidFill>
                <a:latin typeface="Aptos"/>
              </a:rPr>
              <a:t>Residents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1984248" cy="21579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76E"/>
                </a:solidFill>
                <a:latin typeface="Aptos"/>
              </a:rPr>
              <a:t>Register for an account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76E"/>
                </a:solidFill>
                <a:latin typeface="Aptos"/>
              </a:rPr>
              <a:t>Request documents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76E"/>
                </a:solidFill>
                <a:latin typeface="Aptos"/>
              </a:rPr>
              <a:t>Receive updates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76E"/>
                </a:solidFill>
                <a:latin typeface="Aptos"/>
              </a:rPr>
              <a:t>Report community concerns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76E"/>
                </a:solidFill>
                <a:latin typeface="Aptos"/>
              </a:rPr>
              <a:t>Track status online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783080"/>
            <a:ext cx="2240280" cy="3246120"/>
          </a:xfrm>
          <a:prstGeom prst="roundRect">
            <a:avLst/>
          </a:prstGeom>
          <a:solidFill>
            <a:srgbClr val="103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993392"/>
            <a:ext cx="1828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MunLink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423160"/>
            <a:ext cx="1645920" cy="1965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2ECEE"/>
                </a:solidFill>
                <a:latin typeface="Aptos"/>
              </a:rPr>
              <a:t>Centralized records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2ECEE"/>
                </a:solidFill>
                <a:latin typeface="Aptos"/>
              </a:rPr>
              <a:t>Authentication and access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2ECEE"/>
                </a:solidFill>
                <a:latin typeface="Aptos"/>
              </a:rPr>
              <a:t>Document and workflow handling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2ECEE"/>
                </a:solidFill>
                <a:latin typeface="Aptos"/>
              </a:rPr>
              <a:t>Notifications and updates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2ECEE"/>
                </a:solidFill>
                <a:latin typeface="Aptos"/>
              </a:rPr>
              <a:t>Tracking and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11680"/>
            <a:ext cx="2240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011680"/>
            <a:ext cx="73152" cy="2743200"/>
          </a:xfrm>
          <a:prstGeom prst="rect">
            <a:avLst/>
          </a:prstGeom>
          <a:solidFill>
            <a:srgbClr val="D6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2139696"/>
            <a:ext cx="1984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2127"/>
                </a:solidFill>
                <a:latin typeface="Aptos"/>
              </a:rPr>
              <a:t>Local Offices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468880"/>
            <a:ext cx="1984248" cy="21579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76E"/>
                </a:solidFill>
                <a:latin typeface="Aptos"/>
              </a:rPr>
              <a:t>Review submissions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76E"/>
                </a:solidFill>
                <a:latin typeface="Aptos"/>
              </a:rPr>
              <a:t>Process requests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76E"/>
                </a:solidFill>
                <a:latin typeface="Aptos"/>
              </a:rPr>
              <a:t>Publish announcements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76E"/>
                </a:solidFill>
                <a:latin typeface="Aptos"/>
              </a:rPr>
              <a:t>Manage records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76E"/>
                </a:solidFill>
                <a:latin typeface="Aptos"/>
              </a:rPr>
              <a:t>Respond to issues</a:t>
            </a:r>
          </a:p>
        </p:txBody>
      </p:sp>
      <p:sp>
        <p:nvSpPr>
          <p:cNvPr id="16" name="Chevron 15"/>
          <p:cNvSpPr/>
          <p:nvPr/>
        </p:nvSpPr>
        <p:spPr>
          <a:xfrm>
            <a:off x="2880360" y="3017520"/>
            <a:ext cx="411480" cy="384048"/>
          </a:xfrm>
          <a:prstGeom prst="chevron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5623560" y="3017520"/>
            <a:ext cx="411480" cy="384048"/>
          </a:xfrm>
          <a:prstGeom prst="chevron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5193792"/>
            <a:ext cx="67665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127"/>
                </a:solidFill>
                <a:latin typeface="Aptos"/>
              </a:rPr>
              <a:t>Because services share one system, information is easier to track and offices can manage requests more efficiently.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8138160" cy="27432"/>
          </a:xfrm>
          <a:prstGeom prst="rect">
            <a:avLst/>
          </a:prstGeom>
          <a:solidFill>
            <a:srgbClr val="D6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8676E"/>
                </a:solidFill>
                <a:latin typeface="Aptos"/>
              </a:rPr>
              <a:t>MunLink Zambales Project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64808"/>
            <a:ext cx="6400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867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4206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A6F57"/>
                </a:solidFill>
                <a:latin typeface="Aptos"/>
              </a:rPr>
              <a:t>BENEFICIARIES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4937760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127"/>
                </a:solidFill>
                <a:latin typeface="Aptos"/>
              </a:rPr>
              <a:t>Who Will Benefit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5394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8676E"/>
                </a:solidFill>
                <a:latin typeface="Aptos"/>
              </a:rPr>
              <a:t>The project creates direct value for both residents and public servants.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822191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084831"/>
            <a:ext cx="3291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52127"/>
                </a:solidFill>
                <a:latin typeface="Aptos"/>
              </a:rPr>
              <a:t>Residents and families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542032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840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560320"/>
            <a:ext cx="2697480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Students and job seekers who need official documents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54679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7"/>
            <a:ext cx="3840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3172967"/>
            <a:ext cx="2697480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Senior citizens and families needing easier access to services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767328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85616"/>
            <a:ext cx="3840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3785616"/>
            <a:ext cx="2697480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OFW families managing requests from a distance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79976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98264"/>
            <a:ext cx="3840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4398264"/>
            <a:ext cx="2697480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Residents who need timely announcements and updates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992624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3840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5010912"/>
            <a:ext cx="2697480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Community members reporting concerns and tracking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874519"/>
            <a:ext cx="3822191" cy="4069080"/>
          </a:xfrm>
          <a:prstGeom prst="roundRect">
            <a:avLst/>
          </a:prstGeom>
          <a:solidFill>
            <a:srgbClr val="EFF6F7"/>
          </a:solidFill>
          <a:ln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55464" y="2084831"/>
            <a:ext cx="3291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52127"/>
                </a:solidFill>
                <a:latin typeface="Aptos"/>
              </a:rPr>
              <a:t>Local government and communities</a:t>
            </a:r>
          </a:p>
        </p:txBody>
      </p:sp>
      <p:sp>
        <p:nvSpPr>
          <p:cNvPr id="24" name="Oval 23"/>
          <p:cNvSpPr/>
          <p:nvPr/>
        </p:nvSpPr>
        <p:spPr>
          <a:xfrm>
            <a:off x="4873752" y="2542032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73752" y="2560320"/>
            <a:ext cx="3840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5816" y="2560320"/>
            <a:ext cx="2697480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Barangay officials handling public communication</a:t>
            </a:r>
          </a:p>
        </p:txBody>
      </p:sp>
      <p:sp>
        <p:nvSpPr>
          <p:cNvPr id="27" name="Oval 26"/>
          <p:cNvSpPr/>
          <p:nvPr/>
        </p:nvSpPr>
        <p:spPr>
          <a:xfrm>
            <a:off x="4873752" y="3154679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73752" y="3172967"/>
            <a:ext cx="3840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85816" y="3172967"/>
            <a:ext cx="2697480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Municipal staff processing documents and applications</a:t>
            </a:r>
          </a:p>
        </p:txBody>
      </p:sp>
      <p:sp>
        <p:nvSpPr>
          <p:cNvPr id="30" name="Oval 29"/>
          <p:cNvSpPr/>
          <p:nvPr/>
        </p:nvSpPr>
        <p:spPr>
          <a:xfrm>
            <a:off x="4873752" y="3767328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73752" y="3785616"/>
            <a:ext cx="3840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85816" y="3785616"/>
            <a:ext cx="2697480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Program managers reviewing assistance requests</a:t>
            </a:r>
          </a:p>
        </p:txBody>
      </p:sp>
      <p:sp>
        <p:nvSpPr>
          <p:cNvPr id="33" name="Oval 32"/>
          <p:cNvSpPr/>
          <p:nvPr/>
        </p:nvSpPr>
        <p:spPr>
          <a:xfrm>
            <a:off x="4873752" y="4379976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73752" y="4398264"/>
            <a:ext cx="3840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85816" y="4398264"/>
            <a:ext cx="2697480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Local leaders monitoring service demand and reports</a:t>
            </a:r>
          </a:p>
        </p:txBody>
      </p:sp>
      <p:sp>
        <p:nvSpPr>
          <p:cNvPr id="36" name="Oval 35"/>
          <p:cNvSpPr/>
          <p:nvPr/>
        </p:nvSpPr>
        <p:spPr>
          <a:xfrm>
            <a:off x="4873752" y="4992624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73752" y="5010912"/>
            <a:ext cx="38404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5816" y="5010912"/>
            <a:ext cx="2697480" cy="3474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Community groups and local businesses using the platform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46520"/>
            <a:ext cx="8138160" cy="27432"/>
          </a:xfrm>
          <a:prstGeom prst="rect">
            <a:avLst/>
          </a:prstGeom>
          <a:solidFill>
            <a:srgbClr val="D6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8676E"/>
                </a:solidFill>
                <a:latin typeface="Aptos"/>
              </a:rPr>
              <a:t>MunLink Zambales Project 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6464808"/>
            <a:ext cx="6400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867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4206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A6F57"/>
                </a:solidFill>
                <a:latin typeface="Aptos"/>
              </a:rPr>
              <a:t>PROJECT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4937760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127"/>
                </a:solidFill>
                <a:latin typeface="Aptos"/>
              </a:rPr>
              <a:t>Why This Project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5394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8676E"/>
                </a:solidFill>
                <a:latin typeface="Aptos"/>
              </a:rPr>
              <a:t>MunLink solves several local needs through one practical digital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11680"/>
            <a:ext cx="365760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2011680"/>
            <a:ext cx="73152" cy="1536192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139696"/>
            <a:ext cx="34015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2127"/>
                </a:solidFill>
                <a:latin typeface="Aptos"/>
              </a:rPr>
              <a:t>Practical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468880"/>
            <a:ext cx="3401568" cy="9509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8676E"/>
                </a:solidFill>
                <a:latin typeface="Aptos"/>
              </a:rPr>
              <a:t>It focuses on services that people actually use, such as documents, announcements, reports, and benefits.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011680"/>
            <a:ext cx="365760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17720" y="2011680"/>
            <a:ext cx="73152" cy="1536192"/>
          </a:xfrm>
          <a:prstGeom prst="rect">
            <a:avLst/>
          </a:prstGeom>
          <a:solidFill>
            <a:srgbClr val="D6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2139696"/>
            <a:ext cx="34015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2127"/>
                </a:solidFill>
                <a:latin typeface="Aptos"/>
              </a:rPr>
              <a:t>Efficient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468880"/>
            <a:ext cx="3401568" cy="9509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 dirty="0">
                <a:solidFill>
                  <a:srgbClr val="58676E"/>
                </a:solidFill>
                <a:latin typeface="Aptos"/>
              </a:rPr>
              <a:t>It can reduce repeat visits, follow-up delays, and scattered communication for both residents and offices.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77639"/>
            <a:ext cx="365760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" y="3977639"/>
            <a:ext cx="73152" cy="1536192"/>
          </a:xfrm>
          <a:prstGeom prst="rect">
            <a:avLst/>
          </a:prstGeom>
          <a:solidFill>
            <a:srgbClr val="39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105655"/>
            <a:ext cx="34015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2127"/>
                </a:solidFill>
                <a:latin typeface="Aptos"/>
              </a:rPr>
              <a:t>Transparent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434839"/>
            <a:ext cx="3401568" cy="9509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8676E"/>
                </a:solidFill>
                <a:latin typeface="Aptos"/>
              </a:rPr>
              <a:t>Tracking, records, and organized workflows support clearer and more accountable public service delivery.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977639"/>
            <a:ext cx="365760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17720" y="3977639"/>
            <a:ext cx="73152" cy="1536192"/>
          </a:xfrm>
          <a:prstGeom prst="rect">
            <a:avLst/>
          </a:prstGeom>
          <a:solidFill>
            <a:srgbClr val="7F5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82312" y="4105655"/>
            <a:ext cx="340156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 dirty="0">
                <a:solidFill>
                  <a:srgbClr val="152127"/>
                </a:solidFill>
                <a:latin typeface="Aptos"/>
              </a:rPr>
              <a:t>Relevant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4434839"/>
            <a:ext cx="3401568" cy="9509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8676E"/>
                </a:solidFill>
                <a:latin typeface="Aptos"/>
              </a:rPr>
              <a:t>The project is grounded in community-centered needs in Zambales, not just a generic software concept.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687568"/>
            <a:ext cx="7242048" cy="438912"/>
          </a:xfrm>
          <a:prstGeom prst="roundRect">
            <a:avLst/>
          </a:prstGeom>
          <a:solidFill>
            <a:srgbClr val="103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5779008"/>
            <a:ext cx="694944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Aptos"/>
              </a:rPr>
              <a:t>MunLink combines practical features with direct public value for Zambales.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8138160" cy="27432"/>
          </a:xfrm>
          <a:prstGeom prst="rect">
            <a:avLst/>
          </a:prstGeom>
          <a:solidFill>
            <a:srgbClr val="D6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8676E"/>
                </a:solidFill>
                <a:latin typeface="Aptos"/>
              </a:rPr>
              <a:t>MunLink Zambales Project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64808"/>
            <a:ext cx="6400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867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4206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A6F57"/>
                </a:solidFill>
                <a:latin typeface="Aptos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5912530" cy="44807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 dirty="0">
                <a:solidFill>
                  <a:srgbClr val="152127"/>
                </a:solidFill>
                <a:latin typeface="Aptos"/>
              </a:rPr>
              <a:t>Expected Impact and Rollout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9595"/>
            <a:ext cx="5394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 dirty="0">
                <a:solidFill>
                  <a:srgbClr val="58676E"/>
                </a:solidFill>
                <a:latin typeface="Aptos"/>
              </a:rPr>
              <a:t>The project is designed to create visible improvements in day-to-day service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7947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73152" cy="4160520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002535"/>
            <a:ext cx="353872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2127"/>
                </a:solidFill>
                <a:latin typeface="Aptos"/>
              </a:rPr>
              <a:t>Expected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19"/>
            <a:ext cx="3538728" cy="3575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0" i="0" dirty="0">
                <a:solidFill>
                  <a:srgbClr val="58676E"/>
                </a:solidFill>
                <a:latin typeface="Aptos"/>
              </a:rPr>
              <a:t>Faster document processing and clearer request tracking</a:t>
            </a:r>
          </a:p>
          <a:p>
            <a:pPr algn="l">
              <a:lnSpc>
                <a:spcPct val="110000"/>
              </a:lnSpc>
            </a:pPr>
            <a:r>
              <a:rPr sz="1120" b="0" i="0" dirty="0">
                <a:solidFill>
                  <a:srgbClr val="58676E"/>
                </a:solidFill>
                <a:latin typeface="Aptos"/>
              </a:rPr>
              <a:t>Improved communication between local government and residents</a:t>
            </a:r>
          </a:p>
          <a:p>
            <a:pPr algn="l">
              <a:lnSpc>
                <a:spcPct val="110000"/>
              </a:lnSpc>
            </a:pPr>
            <a:r>
              <a:rPr sz="1120" b="0" i="0" dirty="0">
                <a:solidFill>
                  <a:srgbClr val="58676E"/>
                </a:solidFill>
                <a:latin typeface="Aptos"/>
              </a:rPr>
              <a:t>More organized handling of community issues and benefit applications</a:t>
            </a:r>
          </a:p>
          <a:p>
            <a:pPr algn="l">
              <a:lnSpc>
                <a:spcPct val="110000"/>
              </a:lnSpc>
            </a:pPr>
            <a:r>
              <a:rPr sz="1120" b="0" i="0" dirty="0">
                <a:solidFill>
                  <a:srgbClr val="58676E"/>
                </a:solidFill>
                <a:latin typeface="Aptos"/>
              </a:rPr>
              <a:t>Greater convenience for people who cannot always visit offices</a:t>
            </a:r>
          </a:p>
          <a:p>
            <a:pPr algn="l">
              <a:lnSpc>
                <a:spcPct val="110000"/>
              </a:lnSpc>
            </a:pPr>
            <a:r>
              <a:rPr sz="1120" b="0" i="0" dirty="0">
                <a:solidFill>
                  <a:srgbClr val="58676E"/>
                </a:solidFill>
                <a:latin typeface="Aptos"/>
              </a:rPr>
              <a:t>Stronger record-keeping and reporting for public offices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874519"/>
            <a:ext cx="37947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2057400"/>
            <a:ext cx="23774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52127"/>
                </a:solidFill>
                <a:latin typeface="Aptos"/>
              </a:rPr>
              <a:t>Project rollout path</a:t>
            </a:r>
          </a:p>
        </p:txBody>
      </p:sp>
      <p:sp>
        <p:nvSpPr>
          <p:cNvPr id="11" name="Oval 10"/>
          <p:cNvSpPr/>
          <p:nvPr/>
        </p:nvSpPr>
        <p:spPr>
          <a:xfrm>
            <a:off x="4956048" y="2542032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6048" y="2560320"/>
            <a:ext cx="384048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2523744"/>
            <a:ext cx="12801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52127"/>
                </a:solidFill>
                <a:latin typeface="Aptos"/>
              </a:rPr>
              <a:t>Orientation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2743200"/>
            <a:ext cx="26517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Align offices, users, and service priorities</a:t>
            </a:r>
          </a:p>
        </p:txBody>
      </p:sp>
      <p:sp>
        <p:nvSpPr>
          <p:cNvPr id="15" name="Oval 14"/>
          <p:cNvSpPr/>
          <p:nvPr/>
        </p:nvSpPr>
        <p:spPr>
          <a:xfrm>
            <a:off x="4956048" y="3291839"/>
            <a:ext cx="384048" cy="384048"/>
          </a:xfrm>
          <a:prstGeom prst="ellipse">
            <a:avLst/>
          </a:prstGeom>
          <a:solidFill>
            <a:srgbClr val="D6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6048" y="3310127"/>
            <a:ext cx="384048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3273551"/>
            <a:ext cx="12801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52127"/>
                </a:solidFill>
                <a:latin typeface="Aptos"/>
              </a:rPr>
              <a:t>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3493008"/>
            <a:ext cx="26517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Configure roles, workflows, and platform needs</a:t>
            </a:r>
          </a:p>
        </p:txBody>
      </p:sp>
      <p:sp>
        <p:nvSpPr>
          <p:cNvPr id="19" name="Oval 18"/>
          <p:cNvSpPr/>
          <p:nvPr/>
        </p:nvSpPr>
        <p:spPr>
          <a:xfrm>
            <a:off x="4956048" y="4041648"/>
            <a:ext cx="384048" cy="384048"/>
          </a:xfrm>
          <a:prstGeom prst="ellipse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6048" y="4059935"/>
            <a:ext cx="384048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4023360"/>
            <a:ext cx="12801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52127"/>
                </a:solidFill>
                <a:latin typeface="Aptos"/>
              </a:rPr>
              <a:t>Pilot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4242816"/>
            <a:ext cx="26517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Test the system with real transactions and feedback</a:t>
            </a:r>
          </a:p>
        </p:txBody>
      </p:sp>
      <p:sp>
        <p:nvSpPr>
          <p:cNvPr id="23" name="Oval 22"/>
          <p:cNvSpPr/>
          <p:nvPr/>
        </p:nvSpPr>
        <p:spPr>
          <a:xfrm>
            <a:off x="4956048" y="4791456"/>
            <a:ext cx="384048" cy="384048"/>
          </a:xfrm>
          <a:prstGeom prst="ellipse">
            <a:avLst/>
          </a:prstGeom>
          <a:solidFill>
            <a:srgbClr val="D6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56048" y="4809744"/>
            <a:ext cx="384048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4773168"/>
            <a:ext cx="12801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52127"/>
                </a:solidFill>
                <a:latin typeface="Aptos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8112" y="4992624"/>
            <a:ext cx="26517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>
                <a:solidFill>
                  <a:srgbClr val="58676E"/>
                </a:solidFill>
                <a:latin typeface="Aptos"/>
              </a:rPr>
              <a:t>Refine the platform based on actual use and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46520"/>
            <a:ext cx="8138160" cy="27432"/>
          </a:xfrm>
          <a:prstGeom prst="rect">
            <a:avLst/>
          </a:prstGeom>
          <a:solidFill>
            <a:srgbClr val="D6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8676E"/>
                </a:solidFill>
                <a:latin typeface="Aptos"/>
              </a:rPr>
              <a:t>MunLink Zambales Project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6464808"/>
            <a:ext cx="6400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867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b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2080"/>
            <a:ext cx="9144000" cy="1645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3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3474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A6F57"/>
                </a:solidFill>
                <a:latin typeface="Aptos"/>
              </a:rPr>
              <a:t>PROJECT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79" y="932688"/>
            <a:ext cx="3931921" cy="79380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600" b="1" i="0" dirty="0">
                <a:solidFill>
                  <a:srgbClr val="FFFFFF"/>
                </a:solidFill>
                <a:latin typeface="Aptos"/>
              </a:rPr>
              <a:t>Why MunLink Stands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765" y="1988820"/>
            <a:ext cx="4609854" cy="72712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 dirty="0">
                <a:solidFill>
                  <a:srgbClr val="E4ECEE"/>
                </a:solidFill>
                <a:latin typeface="Aptos"/>
              </a:rPr>
              <a:t>MunLink stands out because it combines public convenience, administrative efficiency, and clearer service delivery in one platform for Zambales.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75887"/>
            <a:ext cx="3931920" cy="1042415"/>
          </a:xfrm>
          <a:prstGeom prst="round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3767502"/>
            <a:ext cx="3456432" cy="530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 dirty="0">
                <a:solidFill>
                  <a:srgbClr val="FFFFFF"/>
                </a:solidFill>
                <a:latin typeface="Aptos"/>
              </a:rPr>
              <a:t>A practical, relevant, and community-centered project for Zambales.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975104"/>
            <a:ext cx="301752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340864"/>
            <a:ext cx="3154680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0" i="0" dirty="0">
                <a:solidFill>
                  <a:srgbClr val="E4ECEE"/>
                </a:solidFill>
                <a:latin typeface="Aptos"/>
              </a:rPr>
              <a:t>1. MunLink solves real service challenges in Zambales</a:t>
            </a:r>
          </a:p>
          <a:p>
            <a:pPr algn="l">
              <a:lnSpc>
                <a:spcPct val="110000"/>
              </a:lnSpc>
            </a:pPr>
            <a:r>
              <a:rPr sz="1220" b="0" i="0" dirty="0">
                <a:solidFill>
                  <a:srgbClr val="E4ECEE"/>
                </a:solidFill>
                <a:latin typeface="Aptos"/>
              </a:rPr>
              <a:t>2. It combines important features in one connected platform</a:t>
            </a:r>
          </a:p>
          <a:p>
            <a:pPr algn="l">
              <a:lnSpc>
                <a:spcPct val="110000"/>
              </a:lnSpc>
            </a:pPr>
            <a:r>
              <a:rPr sz="1220" b="0" i="0" dirty="0">
                <a:solidFill>
                  <a:srgbClr val="E4ECEE"/>
                </a:solidFill>
                <a:latin typeface="Aptos"/>
              </a:rPr>
              <a:t>3. It benefits both residents and local offices</a:t>
            </a:r>
          </a:p>
          <a:p>
            <a:pPr algn="l">
              <a:lnSpc>
                <a:spcPct val="110000"/>
              </a:lnSpc>
            </a:pPr>
            <a:r>
              <a:rPr sz="1220" b="0" i="0" dirty="0">
                <a:solidFill>
                  <a:srgbClr val="E4ECEE"/>
                </a:solidFill>
                <a:latin typeface="Aptos"/>
              </a:rPr>
              <a:t>4. It shows how technology can improve local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4315968"/>
            <a:ext cx="315468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1">
                <a:solidFill>
                  <a:srgbClr val="D2E0E4"/>
                </a:solidFill>
                <a:latin typeface="Aptos"/>
              </a:rPr>
              <a:t>MunLink shows how software can support better governance, communication, and public service in Zambales.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8138160" cy="27432"/>
          </a:xfrm>
          <a:prstGeom prst="rect">
            <a:avLst/>
          </a:prstGeom>
          <a:solidFill>
            <a:srgbClr val="EA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Aptos"/>
              </a:rPr>
              <a:t>MunLink Zambales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6464808"/>
            <a:ext cx="6400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927</Words>
  <Application>Microsoft Office PowerPoint</Application>
  <PresentationFormat>On-screen Show (4:3)</PresentationFormat>
  <Paragraphs>160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Antigo</cp:lastModifiedBy>
  <cp:revision>4</cp:revision>
  <dcterms:created xsi:type="dcterms:W3CDTF">2013-01-27T09:14:16Z</dcterms:created>
  <dcterms:modified xsi:type="dcterms:W3CDTF">2026-04-13T15:48:25Z</dcterms:modified>
  <cp:category/>
</cp:coreProperties>
</file>